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r9sO0efDHY7v501bd5+GEJeZV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7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6.xml"/><Relationship Id="rId21" Type="http://schemas.openxmlformats.org/officeDocument/2006/relationships/font" Target="fonts/RobotoMono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RobotoMono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h5725e6b1b9df4986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h5725e6b1b9df498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architecture.md" TargetMode="External"/><Relationship Id="rId4" Type="http://schemas.openxmlformats.org/officeDocument/2006/relationships/hyperlink" Target="http://report.md" TargetMode="External"/><Relationship Id="rId5" Type="http://schemas.openxmlformats.org/officeDocument/2006/relationships/hyperlink" Target="http://agents.md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015950" y="1569875"/>
            <a:ext cx="10160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>
                <a:solidFill>
                  <a:srgbClr val="B45F06"/>
                </a:solidFill>
                <a:highlight>
                  <a:srgbClr val="F8F8F8"/>
                </a:highlight>
              </a:rPr>
              <a:t>RAG Knowledge Base: MCP-сервер с локальной LLM и Microsoft Semantic Kernel</a:t>
            </a:r>
            <a:r>
              <a:rPr lang="ru-RU" sz="4000">
                <a:solidFill>
                  <a:srgbClr val="B45F06"/>
                </a:solidFill>
              </a:rPr>
              <a:t> </a:t>
            </a:r>
            <a:endParaRPr sz="4000">
              <a:solidFill>
                <a:srgbClr val="B45F06"/>
              </a:solidFill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016000" y="2717800"/>
            <a:ext cx="1016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016050" y="4772125"/>
            <a:ext cx="101601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600" u="none" cap="none" strike="noStrike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Васильева Ольга Витальевна</a:t>
            </a:r>
            <a:endParaRPr b="1" i="0" sz="2600" u="none" cap="none" strike="noStrike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16050" y="5356325"/>
            <a:ext cx="1016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rgbClr val="464744"/>
                </a:solidFill>
                <a:latin typeface="Arial"/>
                <a:ea typeface="Arial"/>
                <a:cs typeface="Arial"/>
                <a:sym typeface="Arial"/>
              </a:rPr>
              <a:t>студент OTUS  · 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609600" y="355600"/>
            <a:ext cx="109728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600" u="none" cap="none" strike="noStrike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О проекте</a:t>
            </a:r>
            <a:endParaRPr b="1" sz="26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609600" y="1143000"/>
            <a:ext cx="3556000" cy="5080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812800" y="2351561"/>
            <a:ext cx="3149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464744"/>
                </a:solidFill>
                <a:latin typeface="Arial"/>
                <a:ea typeface="Arial"/>
                <a:cs typeface="Arial"/>
                <a:sym typeface="Arial"/>
              </a:rPr>
              <a:t>Предметная область</a:t>
            </a:r>
            <a:endParaRPr sz="1200">
              <a:solidFill>
                <a:srgbClr val="464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812800" y="2757961"/>
            <a:ext cx="3149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Выбранная предметная область — сериал Star Trek. Файлы на русском в SourceFiles: расы, планеты, корабли, сериалы.</a:t>
            </a:r>
            <a:endParaRPr sz="15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4318000" y="1143000"/>
            <a:ext cx="3556000" cy="5080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4521200" y="2351561"/>
            <a:ext cx="3149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464744"/>
                </a:solidFill>
                <a:latin typeface="Arial"/>
                <a:ea typeface="Arial"/>
                <a:cs typeface="Arial"/>
                <a:sym typeface="Arial"/>
              </a:rPr>
              <a:t>Цель</a:t>
            </a:r>
            <a:endParaRPr sz="1200">
              <a:solidFill>
                <a:srgbClr val="464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4521200" y="2757961"/>
            <a:ext cx="31497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База знаний в IDE: агент отвечает по файлам проекта, а не из общих знаний модели.</a:t>
            </a:r>
            <a:endParaRPr sz="15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8026400" y="1143000"/>
            <a:ext cx="3556000" cy="5080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8229600" y="2351561"/>
            <a:ext cx="3149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464744"/>
                </a:solidFill>
              </a:rPr>
              <a:t>Результат</a:t>
            </a:r>
            <a:endParaRPr sz="1200">
              <a:solidFill>
                <a:srgbClr val="464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8229600" y="2757961"/>
            <a:ext cx="31497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242120"/>
                </a:solidFill>
              </a:rPr>
              <a:t>Поиск по RAG через локальную LLM</a:t>
            </a:r>
            <a:endParaRPr sz="15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 txBox="1"/>
          <p:nvPr/>
        </p:nvSpPr>
        <p:spPr>
          <a:xfrm>
            <a:off x="508000" y="254000"/>
            <a:ext cx="1117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Требования </a:t>
            </a:r>
            <a:r>
              <a:rPr b="1" lang="ru-RU" sz="2400">
                <a:solidFill>
                  <a:srgbClr val="242120"/>
                </a:solidFill>
              </a:rPr>
              <a:t>к проекту</a:t>
            </a:r>
            <a:endParaRPr b="1" sz="24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508000" y="711200"/>
            <a:ext cx="11176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508000" y="1143000"/>
            <a:ext cx="5461000" cy="5334000"/>
          </a:xfrm>
          <a:prstGeom prst="roundRect">
            <a:avLst>
              <a:gd fmla="val 16667" name="adj"/>
            </a:avLst>
          </a:prstGeom>
          <a:solidFill>
            <a:srgbClr val="D057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711200" y="1320800"/>
            <a:ext cx="5054600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Функциональные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"/>
          <p:cNvSpPr txBox="1"/>
          <p:nvPr/>
        </p:nvSpPr>
        <p:spPr>
          <a:xfrm>
            <a:off x="711150" y="2062325"/>
            <a:ext cx="50547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MCP-сервер в IDE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Индексация файлов предметной области — сериал Star Trek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Ответы из файлов, не из общих знаний модели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инструмента: index_folder, ask_question, find_relevant_docs, index_status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Corrective RAG: rewrite → retrieve → grade → generate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Гибридный поиск: BM25 + вектор → RRF</a:t>
            </a:r>
            <a:endParaRPr sz="2000"/>
          </a:p>
        </p:txBody>
      </p:sp>
      <p:sp>
        <p:nvSpPr>
          <p:cNvPr id="111" name="Google Shape;111;p6"/>
          <p:cNvSpPr/>
          <p:nvPr/>
        </p:nvSpPr>
        <p:spPr>
          <a:xfrm>
            <a:off x="6223000" y="1143000"/>
            <a:ext cx="5461000" cy="5334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6426200" y="1320800"/>
            <a:ext cx="5054600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464744"/>
                </a:solidFill>
                <a:latin typeface="Arial"/>
                <a:ea typeface="Arial"/>
                <a:cs typeface="Arial"/>
                <a:sym typeface="Arial"/>
              </a:rPr>
              <a:t>Нефункциональные</a:t>
            </a:r>
            <a:endParaRPr sz="2000">
              <a:solidFill>
                <a:srgbClr val="464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6426150" y="2062325"/>
            <a:ext cx="5054700" cy="3433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C# / .NET 10</a:t>
            </a:r>
            <a:endParaRPr sz="20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2000">
                <a:solidFill>
                  <a:srgbClr val="464744"/>
                </a:solidFill>
              </a:rPr>
              <a:t>Semantic Kernel вместо LangGraph</a:t>
            </a:r>
            <a:endParaRPr sz="2000">
              <a:solidFill>
                <a:srgbClr val="24212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Docker Compose, локальный запуск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Локальная LLM Qwen3-8B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Embeddings: ONNX e5-small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Конфиг в appsettings.json, без секретов в коде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Оркестрация: Semantic Kernel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Документы предметной области ≥ 500 КБ</a:t>
            </a:r>
            <a:endParaRPr sz="20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/>
          <p:nvPr/>
        </p:nvSpPr>
        <p:spPr>
          <a:xfrm>
            <a:off x="508000" y="304800"/>
            <a:ext cx="111760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6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Схема индексации</a:t>
            </a:r>
            <a:endParaRPr b="1" sz="26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508000" y="812800"/>
            <a:ext cx="11176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464744"/>
                </a:solidFill>
                <a:latin typeface="Arial"/>
                <a:ea typeface="Arial"/>
                <a:cs typeface="Arial"/>
                <a:sym typeface="Arial"/>
              </a:rPr>
              <a:t>По README: файлы предметной области идут в команды, затем в два индекса.</a:t>
            </a:r>
            <a:endParaRPr sz="1200">
              <a:solidFill>
                <a:srgbClr val="464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406400" y="2736400"/>
            <a:ext cx="2063100" cy="859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2900">
            <a:solidFill>
              <a:srgbClr val="0B5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3750" lIns="123750" spcFirstLastPara="1" rIns="123750" wrap="square" tIns="123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24">
                <a:solidFill>
                  <a:srgbClr val="FFFFFF"/>
                </a:solidFill>
              </a:rPr>
              <a:t>SourceFiles</a:t>
            </a:r>
            <a:endParaRPr b="1" sz="1624">
              <a:solidFill>
                <a:srgbClr val="FFFFFF"/>
              </a:solidFill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2916384" y="1498600"/>
            <a:ext cx="1856700" cy="790800"/>
          </a:xfrm>
          <a:prstGeom prst="roundRect">
            <a:avLst>
              <a:gd fmla="val 16667" name="adj"/>
            </a:avLst>
          </a:prstGeom>
          <a:solidFill>
            <a:srgbClr val="F1F3F4"/>
          </a:solidFill>
          <a:ln cap="flat" cmpd="sng" w="12900">
            <a:solidFill>
              <a:srgbClr val="F1F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3750" lIns="123750" spcFirstLastPara="1" rIns="123750" wrap="square" tIns="123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24">
                <a:solidFill>
                  <a:srgbClr val="202124"/>
                </a:solidFill>
              </a:rPr>
              <a:t>analyze</a:t>
            </a:r>
            <a:endParaRPr b="1" sz="1624">
              <a:solidFill>
                <a:srgbClr val="202124"/>
              </a:solidFill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2916384" y="3389684"/>
            <a:ext cx="1856700" cy="790800"/>
          </a:xfrm>
          <a:prstGeom prst="roundRect">
            <a:avLst>
              <a:gd fmla="val 16667" name="adj"/>
            </a:avLst>
          </a:prstGeom>
          <a:solidFill>
            <a:srgbClr val="F1F3F4"/>
          </a:solidFill>
          <a:ln cap="flat" cmpd="sng" w="12900">
            <a:solidFill>
              <a:srgbClr val="F1F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3750" lIns="123750" spcFirstLastPara="1" rIns="123750" wrap="square" tIns="123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24">
                <a:solidFill>
                  <a:srgbClr val="202124"/>
                </a:solidFill>
              </a:rPr>
              <a:t>chunk</a:t>
            </a:r>
            <a:endParaRPr b="1" sz="1624">
              <a:solidFill>
                <a:srgbClr val="202124"/>
              </a:solidFill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5185684" y="3389684"/>
            <a:ext cx="1925400" cy="790800"/>
          </a:xfrm>
          <a:prstGeom prst="roundRect">
            <a:avLst>
              <a:gd fmla="val 16667" name="adj"/>
            </a:avLst>
          </a:prstGeom>
          <a:solidFill>
            <a:srgbClr val="F1F3F4"/>
          </a:solidFill>
          <a:ln cap="flat" cmpd="sng" w="12900">
            <a:solidFill>
              <a:srgbClr val="F1F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3750" lIns="123750" spcFirstLastPara="1" rIns="123750" wrap="square" tIns="123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24">
                <a:solidFill>
                  <a:srgbClr val="202124"/>
                </a:solidFill>
              </a:rPr>
              <a:t>stagingJson</a:t>
            </a:r>
            <a:endParaRPr b="1" sz="1624">
              <a:solidFill>
                <a:srgbClr val="202124"/>
              </a:solidFill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5185684" y="4833784"/>
            <a:ext cx="1925400" cy="790800"/>
          </a:xfrm>
          <a:prstGeom prst="roundRect">
            <a:avLst>
              <a:gd fmla="val 16667" name="adj"/>
            </a:avLst>
          </a:prstGeom>
          <a:solidFill>
            <a:srgbClr val="F1F3F4"/>
          </a:solidFill>
          <a:ln cap="flat" cmpd="sng" w="12900">
            <a:solidFill>
              <a:srgbClr val="F1F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3750" lIns="123750" spcFirstLastPara="1" rIns="123750" wrap="square" tIns="123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89">
                <a:solidFill>
                  <a:srgbClr val="202124"/>
                </a:solidFill>
              </a:rPr>
              <a:t>e5small_ONNX</a:t>
            </a:r>
            <a:endParaRPr b="1" sz="1489">
              <a:solidFill>
                <a:srgbClr val="202124"/>
              </a:solidFill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7523751" y="3389684"/>
            <a:ext cx="1512600" cy="790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2900">
            <a:solidFill>
              <a:srgbClr val="0B5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3750" lIns="123750" spcFirstLastPara="1" rIns="123750" wrap="square" tIns="123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24">
                <a:solidFill>
                  <a:srgbClr val="FFFFFF"/>
                </a:solidFill>
              </a:rPr>
              <a:t>embed</a:t>
            </a:r>
            <a:endParaRPr b="1" sz="1624">
              <a:solidFill>
                <a:srgbClr val="FFFFFF"/>
              </a:solidFill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9449218" y="1704900"/>
            <a:ext cx="2234700" cy="790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2900">
            <a:solidFill>
              <a:srgbClr val="0B5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3750" lIns="123750" spcFirstLastPara="1" rIns="123750" wrap="square" tIns="123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24">
                <a:solidFill>
                  <a:srgbClr val="FFFFFF"/>
                </a:solidFill>
              </a:rPr>
              <a:t>ChromaDB</a:t>
            </a:r>
            <a:endParaRPr b="1" sz="1624">
              <a:solidFill>
                <a:srgbClr val="FFFFFF"/>
              </a:solidFill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9449218" y="4627484"/>
            <a:ext cx="2234700" cy="790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2900">
            <a:solidFill>
              <a:srgbClr val="0B5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3750" lIns="123750" spcFirstLastPara="1" rIns="123750" wrap="square" tIns="123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89">
                <a:solidFill>
                  <a:srgbClr val="FFFFFF"/>
                </a:solidFill>
              </a:rPr>
              <a:t>Bm25InMemory</a:t>
            </a:r>
            <a:endParaRPr b="1" sz="1489">
              <a:solidFill>
                <a:srgbClr val="FFFFFF"/>
              </a:solidFill>
            </a:endParaRPr>
          </a:p>
        </p:txBody>
      </p:sp>
      <p:cxnSp>
        <p:nvCxnSpPr>
          <p:cNvPr id="128" name="Google Shape;128;p3"/>
          <p:cNvCxnSpPr>
            <a:stCxn id="120" idx="3"/>
            <a:endCxn id="121" idx="1"/>
          </p:cNvCxnSpPr>
          <p:nvPr/>
        </p:nvCxnSpPr>
        <p:spPr>
          <a:xfrm flipH="1" rot="10800000">
            <a:off x="2469500" y="1894000"/>
            <a:ext cx="447000" cy="1272300"/>
          </a:xfrm>
          <a:prstGeom prst="bentConnector3">
            <a:avLst>
              <a:gd fmla="val 49985" name="adj1"/>
            </a:avLst>
          </a:prstGeom>
          <a:noFill/>
          <a:ln cap="flat" cmpd="sng" w="25800">
            <a:solidFill>
              <a:srgbClr val="0B57D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3"/>
          <p:cNvCxnSpPr>
            <a:stCxn id="120" idx="3"/>
            <a:endCxn id="122" idx="1"/>
          </p:cNvCxnSpPr>
          <p:nvPr/>
        </p:nvCxnSpPr>
        <p:spPr>
          <a:xfrm>
            <a:off x="2469500" y="3166300"/>
            <a:ext cx="447000" cy="618900"/>
          </a:xfrm>
          <a:prstGeom prst="straightConnector1">
            <a:avLst/>
          </a:prstGeom>
          <a:noFill/>
          <a:ln cap="flat" cmpd="sng" w="25800">
            <a:solidFill>
              <a:srgbClr val="0B57D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p3"/>
          <p:cNvCxnSpPr>
            <a:stCxn id="122" idx="3"/>
            <a:endCxn id="123" idx="1"/>
          </p:cNvCxnSpPr>
          <p:nvPr/>
        </p:nvCxnSpPr>
        <p:spPr>
          <a:xfrm>
            <a:off x="4773084" y="3785084"/>
            <a:ext cx="412500" cy="0"/>
          </a:xfrm>
          <a:prstGeom prst="straightConnector1">
            <a:avLst/>
          </a:prstGeom>
          <a:noFill/>
          <a:ln cap="flat" cmpd="sng" w="25800">
            <a:solidFill>
              <a:srgbClr val="0B57D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p3"/>
          <p:cNvCxnSpPr>
            <a:stCxn id="123" idx="3"/>
            <a:endCxn id="125" idx="1"/>
          </p:cNvCxnSpPr>
          <p:nvPr/>
        </p:nvCxnSpPr>
        <p:spPr>
          <a:xfrm>
            <a:off x="7111084" y="3785084"/>
            <a:ext cx="412800" cy="0"/>
          </a:xfrm>
          <a:prstGeom prst="straightConnector1">
            <a:avLst/>
          </a:prstGeom>
          <a:noFill/>
          <a:ln cap="flat" cmpd="sng" w="25800">
            <a:solidFill>
              <a:srgbClr val="0B57D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3"/>
          <p:cNvCxnSpPr>
            <a:stCxn id="124" idx="3"/>
            <a:endCxn id="125" idx="1"/>
          </p:cNvCxnSpPr>
          <p:nvPr/>
        </p:nvCxnSpPr>
        <p:spPr>
          <a:xfrm flipH="1" rot="10800000">
            <a:off x="7111084" y="3784984"/>
            <a:ext cx="412800" cy="1444200"/>
          </a:xfrm>
          <a:prstGeom prst="bentConnector3">
            <a:avLst>
              <a:gd fmla="val 50016" name="adj1"/>
            </a:avLst>
          </a:prstGeom>
          <a:noFill/>
          <a:ln cap="flat" cmpd="sng" w="25800">
            <a:solidFill>
              <a:srgbClr val="0B57D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3"/>
          <p:cNvCxnSpPr>
            <a:stCxn id="125" idx="3"/>
            <a:endCxn id="126" idx="1"/>
          </p:cNvCxnSpPr>
          <p:nvPr/>
        </p:nvCxnSpPr>
        <p:spPr>
          <a:xfrm flipH="1" rot="10800000">
            <a:off x="9036351" y="2100284"/>
            <a:ext cx="412800" cy="1684800"/>
          </a:xfrm>
          <a:prstGeom prst="bentConnector3">
            <a:avLst>
              <a:gd fmla="val 50016" name="adj1"/>
            </a:avLst>
          </a:prstGeom>
          <a:noFill/>
          <a:ln cap="flat" cmpd="sng" w="25800">
            <a:solidFill>
              <a:srgbClr val="0B57D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3"/>
          <p:cNvCxnSpPr>
            <a:stCxn id="125" idx="3"/>
            <a:endCxn id="127" idx="1"/>
          </p:cNvCxnSpPr>
          <p:nvPr/>
        </p:nvCxnSpPr>
        <p:spPr>
          <a:xfrm>
            <a:off x="9036351" y="3785084"/>
            <a:ext cx="412800" cy="1237800"/>
          </a:xfrm>
          <a:prstGeom prst="bentConnector3">
            <a:avLst>
              <a:gd fmla="val 50016" name="adj1"/>
            </a:avLst>
          </a:prstGeom>
          <a:noFill/>
          <a:ln cap="flat" cmpd="sng" w="25800">
            <a:solidFill>
              <a:srgbClr val="0B57D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 txBox="1"/>
          <p:nvPr/>
        </p:nvSpPr>
        <p:spPr>
          <a:xfrm>
            <a:off x="609600" y="355600"/>
            <a:ext cx="10972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Поиск: два индекса и RRF</a:t>
            </a:r>
            <a:endParaRPr b="1" sz="24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609600" y="863600"/>
            <a:ext cx="109728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464744"/>
                </a:solidFill>
                <a:latin typeface="Arial"/>
                <a:ea typeface="Arial"/>
                <a:cs typeface="Arial"/>
                <a:sym typeface="Arial"/>
              </a:rPr>
              <a:t>CLI поиска нет. HybridSearchService — внутренний API для Semantic Kernel.</a:t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609600" y="1651000"/>
            <a:ext cx="2082800" cy="1016000"/>
          </a:xfrm>
          <a:prstGeom prst="roundRect">
            <a:avLst>
              <a:gd fmla="val 16667" name="adj"/>
            </a:avLst>
          </a:prstGeom>
          <a:solidFill>
            <a:srgbClr val="D057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609600" y="1879600"/>
            <a:ext cx="20828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Запрос</a:t>
            </a:r>
            <a:endParaRPr b="1"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2895600" y="1651000"/>
            <a:ext cx="2082800" cy="1016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2895600" y="1879600"/>
            <a:ext cx="20828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query: + вектор</a:t>
            </a:r>
            <a:endParaRPr b="1" sz="14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5181600" y="1651000"/>
            <a:ext cx="2082800" cy="1016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5181600" y="1879600"/>
            <a:ext cx="20828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ChromaDB</a:t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7467600" y="1651000"/>
            <a:ext cx="2082800" cy="1016000"/>
          </a:xfrm>
          <a:prstGeom prst="roundRect">
            <a:avLst>
              <a:gd fmla="val 16667" name="adj"/>
            </a:avLst>
          </a:prstGeom>
          <a:solidFill>
            <a:srgbClr val="D057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7467600" y="1879600"/>
            <a:ext cx="20828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RRF</a:t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9753600" y="1651000"/>
            <a:ext cx="2082800" cy="1016000"/>
          </a:xfrm>
          <a:prstGeom prst="roundRect">
            <a:avLst>
              <a:gd fmla="val 16667" name="adj"/>
            </a:avLst>
          </a:prstGeom>
          <a:solidFill>
            <a:srgbClr val="D057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9753600" y="1879600"/>
            <a:ext cx="20828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Чанки</a:t>
            </a:r>
            <a:endParaRPr b="1"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2895600" y="3048000"/>
            <a:ext cx="6350000" cy="1016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3048000" y="3302000"/>
            <a:ext cx="60452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тот же запрос → BM25 → RRF</a:t>
            </a:r>
            <a:endParaRPr sz="16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 txBox="1"/>
          <p:nvPr/>
        </p:nvSpPr>
        <p:spPr>
          <a:xfrm>
            <a:off x="609600" y="355600"/>
            <a:ext cx="10972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Команды индексатора</a:t>
            </a:r>
            <a:endParaRPr b="1" sz="24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609600" y="863600"/>
            <a:ext cx="109728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464744"/>
                </a:solidFill>
                <a:latin typeface="Arial"/>
                <a:ea typeface="Arial"/>
                <a:cs typeface="Arial"/>
                <a:sym typeface="Arial"/>
              </a:rPr>
              <a:t>Консол</a:t>
            </a:r>
            <a:r>
              <a:rPr lang="ru-RU" sz="1200">
                <a:solidFill>
                  <a:srgbClr val="464744"/>
                </a:solidFill>
              </a:rPr>
              <a:t>ьное приложение </a:t>
            </a:r>
            <a:r>
              <a:rPr lang="ru-RU" sz="1200">
                <a:solidFill>
                  <a:srgbClr val="464744"/>
                </a:solidFill>
                <a:latin typeface="Arial"/>
                <a:ea typeface="Arial"/>
                <a:cs typeface="Arial"/>
                <a:sym typeface="Arial"/>
              </a:rPr>
              <a:t>StarTrek.Indexer. Ко</a:t>
            </a:r>
            <a:r>
              <a:rPr lang="ru-RU" sz="1200">
                <a:solidFill>
                  <a:srgbClr val="464744"/>
                </a:solidFill>
              </a:rPr>
              <a:t>манды в индексаторе: 5 штук</a:t>
            </a:r>
            <a:endParaRPr sz="1200">
              <a:solidFill>
                <a:srgbClr val="464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09600" y="1397000"/>
            <a:ext cx="3556000" cy="2540000"/>
          </a:xfrm>
          <a:prstGeom prst="roundRect">
            <a:avLst>
              <a:gd fmla="val 16667" name="adj"/>
            </a:avLst>
          </a:prstGeom>
          <a:solidFill>
            <a:srgbClr val="D057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762000" y="1600200"/>
            <a:ext cx="3251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61" name="Google Shape;161;p5"/>
          <p:cNvSpPr txBox="1"/>
          <p:nvPr/>
        </p:nvSpPr>
        <p:spPr>
          <a:xfrm>
            <a:off x="762000" y="2032000"/>
            <a:ext cx="3251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analyze</a:t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762000" y="2667000"/>
            <a:ext cx="3251200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отчёт, ничего не пишет</a:t>
            </a:r>
            <a:endParaRPr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4318000" y="1397000"/>
            <a:ext cx="3556000" cy="2540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4470400" y="1600200"/>
            <a:ext cx="3251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65" name="Google Shape;165;p5"/>
          <p:cNvSpPr txBox="1"/>
          <p:nvPr/>
        </p:nvSpPr>
        <p:spPr>
          <a:xfrm>
            <a:off x="4470400" y="2032000"/>
            <a:ext cx="3251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chunk</a:t>
            </a:r>
            <a:endParaRPr/>
          </a:p>
        </p:txBody>
      </p:sp>
      <p:sp>
        <p:nvSpPr>
          <p:cNvPr id="166" name="Google Shape;166;p5"/>
          <p:cNvSpPr txBox="1"/>
          <p:nvPr/>
        </p:nvSpPr>
        <p:spPr>
          <a:xfrm>
            <a:off x="4470400" y="2667000"/>
            <a:ext cx="3251200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JSON в Data/staging</a:t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8026400" y="1397000"/>
            <a:ext cx="3556000" cy="2540000"/>
          </a:xfrm>
          <a:prstGeom prst="roundRect">
            <a:avLst>
              <a:gd fmla="val 16667" name="adj"/>
            </a:avLst>
          </a:prstGeom>
          <a:solidFill>
            <a:srgbClr val="D057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8178800" y="1600200"/>
            <a:ext cx="3251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8178800" y="2032000"/>
            <a:ext cx="3251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embed</a:t>
            </a:r>
            <a:endParaRPr/>
          </a:p>
        </p:txBody>
      </p:sp>
      <p:sp>
        <p:nvSpPr>
          <p:cNvPr id="170" name="Google Shape;170;p5"/>
          <p:cNvSpPr txBox="1"/>
          <p:nvPr/>
        </p:nvSpPr>
        <p:spPr>
          <a:xfrm>
            <a:off x="8178800" y="2667000"/>
            <a:ext cx="3251200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векторы → два индекса</a:t>
            </a:r>
            <a:endParaRPr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609600" y="4318000"/>
            <a:ext cx="5334000" cy="2032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812800" y="4521200"/>
            <a:ext cx="4927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464744"/>
                </a:solidFill>
                <a:latin typeface="Arial"/>
                <a:ea typeface="Arial"/>
                <a:cs typeface="Arial"/>
                <a:sym typeface="Arial"/>
              </a:rPr>
              <a:t>без файлов</a:t>
            </a:r>
            <a:endParaRPr sz="1200">
              <a:solidFill>
                <a:srgbClr val="464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812800" y="4953000"/>
            <a:ext cx="4927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health-check</a:t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6248400" y="4318000"/>
            <a:ext cx="5334000" cy="2032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6451600" y="4521200"/>
            <a:ext cx="4927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464744"/>
                </a:solidFill>
                <a:latin typeface="Arial"/>
                <a:ea typeface="Arial"/>
                <a:cs typeface="Arial"/>
                <a:sym typeface="Arial"/>
              </a:rPr>
              <a:t>справка</a:t>
            </a:r>
            <a:endParaRPr sz="1200">
              <a:solidFill>
                <a:srgbClr val="464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6451600" y="4953000"/>
            <a:ext cx="4927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help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 txBox="1"/>
          <p:nvPr/>
        </p:nvSpPr>
        <p:spPr>
          <a:xfrm>
            <a:off x="508000" y="254000"/>
            <a:ext cx="111760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2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Что такое чанк и как считаются векторы</a:t>
            </a:r>
            <a:endParaRPr b="1" sz="22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508000" y="889000"/>
            <a:ext cx="2667000" cy="889000"/>
          </a:xfrm>
          <a:prstGeom prst="roundRect">
            <a:avLst>
              <a:gd fmla="val 16667" name="adj"/>
            </a:avLst>
          </a:prstGeom>
          <a:solidFill>
            <a:srgbClr val="D057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508000" y="1092200"/>
            <a:ext cx="2667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SourceFiles</a:t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3429000" y="889000"/>
            <a:ext cx="2667000" cy="889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3429000" y="1092200"/>
            <a:ext cx="2667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chunk</a:t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6350000" y="889000"/>
            <a:ext cx="2667000" cy="889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6350000" y="1092200"/>
            <a:ext cx="2667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embed + ONNX</a:t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9271000" y="889000"/>
            <a:ext cx="2667000" cy="889000"/>
          </a:xfrm>
          <a:prstGeom prst="roundRect">
            <a:avLst>
              <a:gd fmla="val 16667" name="adj"/>
            </a:avLst>
          </a:prstGeom>
          <a:solidFill>
            <a:srgbClr val="D057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9271000" y="1092200"/>
            <a:ext cx="2667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ChromaDB + BM25</a:t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508000" y="2032000"/>
            <a:ext cx="3683000" cy="4318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685800" y="2235200"/>
            <a:ext cx="3327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464744"/>
                </a:solidFill>
                <a:latin typeface="Arial"/>
                <a:ea typeface="Arial"/>
                <a:cs typeface="Arial"/>
                <a:sym typeface="Arial"/>
              </a:rPr>
              <a:t>Чанк</a:t>
            </a:r>
            <a:endParaRPr sz="1200">
              <a:solidFill>
                <a:srgbClr val="464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 txBox="1"/>
          <p:nvPr/>
        </p:nvSpPr>
        <p:spPr>
          <a:xfrm>
            <a:off x="685800" y="2667000"/>
            <a:ext cx="33274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Кусок текста по заголовку #. Длиннее 480 токенов — режем. Короче 80 — не склеиваем.</a:t>
            </a:r>
            <a:endParaRPr sz="14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381500" y="2032000"/>
            <a:ext cx="3683000" cy="4318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4559300" y="2235200"/>
            <a:ext cx="3327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464744"/>
                </a:solidFill>
                <a:latin typeface="Arial"/>
                <a:ea typeface="Arial"/>
                <a:cs typeface="Arial"/>
                <a:sym typeface="Arial"/>
              </a:rPr>
              <a:t>Разработка</a:t>
            </a:r>
            <a:endParaRPr sz="1200">
              <a:solidFill>
                <a:srgbClr val="464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 txBox="1"/>
          <p:nvPr/>
        </p:nvSpPr>
        <p:spPr>
          <a:xfrm>
            <a:off x="4559300" y="2667000"/>
            <a:ext cx="33274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Проект разработан в IDE Cursor.</a:t>
            </a:r>
            <a:endParaRPr sz="14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8255000" y="2032000"/>
            <a:ext cx="3429000" cy="4318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8432800" y="2235200"/>
            <a:ext cx="3073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464744"/>
                </a:solidFill>
                <a:latin typeface="Arial"/>
                <a:ea typeface="Arial"/>
                <a:cs typeface="Arial"/>
                <a:sym typeface="Arial"/>
              </a:rPr>
              <a:t>Запуск</a:t>
            </a:r>
            <a:endParaRPr sz="1200">
              <a:solidFill>
                <a:srgbClr val="464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8432800" y="2667000"/>
            <a:ext cx="30734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Векторы считает локальный ONNX e5-small. Платный API эмбеддингов не вызывается.</a:t>
            </a:r>
            <a:endParaRPr sz="14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 txBox="1"/>
          <p:nvPr/>
        </p:nvSpPr>
        <p:spPr>
          <a:xfrm>
            <a:off x="508000" y="254000"/>
            <a:ext cx="1117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Как запустить</a:t>
            </a:r>
            <a:endParaRPr b="1" sz="24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508000" y="889000"/>
            <a:ext cx="2667000" cy="889000"/>
          </a:xfrm>
          <a:prstGeom prst="roundRect">
            <a:avLst>
              <a:gd fmla="val 16667" name="adj"/>
            </a:avLst>
          </a:prstGeom>
          <a:solidFill>
            <a:srgbClr val="D057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508000" y="1092200"/>
            <a:ext cx="2667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Docker Compose</a:t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3429000" y="889000"/>
            <a:ext cx="2667000" cy="889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 txBox="1"/>
          <p:nvPr/>
        </p:nvSpPr>
        <p:spPr>
          <a:xfrm>
            <a:off x="3429000" y="1092200"/>
            <a:ext cx="2667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chromadb :8000</a:t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6350000" y="889000"/>
            <a:ext cx="2667000" cy="889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6350000" y="1092200"/>
            <a:ext cx="2667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indexer</a:t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9271000" y="889000"/>
            <a:ext cx="2667000" cy="889000"/>
          </a:xfrm>
          <a:prstGeom prst="roundRect">
            <a:avLst>
              <a:gd fmla="val 16667" name="adj"/>
            </a:avLst>
          </a:prstGeom>
          <a:solidFill>
            <a:srgbClr val="D057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 txBox="1"/>
          <p:nvPr/>
        </p:nvSpPr>
        <p:spPr>
          <a:xfrm>
            <a:off x="9271000" y="1092200"/>
            <a:ext cx="2667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команда</a:t>
            </a:r>
            <a:endParaRPr b="1"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508000" y="2032000"/>
            <a:ext cx="3683000" cy="4318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685800" y="2235200"/>
            <a:ext cx="3327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464744"/>
                </a:solidFill>
                <a:latin typeface="Arial"/>
                <a:ea typeface="Arial"/>
                <a:cs typeface="Arial"/>
                <a:sym typeface="Arial"/>
              </a:rPr>
              <a:t>Стек</a:t>
            </a:r>
            <a:endParaRPr sz="1200">
              <a:solidFill>
                <a:srgbClr val="464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685800" y="2921000"/>
            <a:ext cx="33274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C# / .NET 10 · ONNX Runtime · ChromaDB 1.5.9</a:t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4381500" y="2032000"/>
            <a:ext cx="3683000" cy="4318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4559300" y="2235200"/>
            <a:ext cx="3327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464744"/>
                </a:solidFill>
                <a:latin typeface="Arial"/>
                <a:ea typeface="Arial"/>
                <a:cs typeface="Arial"/>
                <a:sym typeface="Arial"/>
              </a:rPr>
              <a:t>Без контейнера индексатора</a:t>
            </a:r>
            <a:endParaRPr sz="1200">
              <a:solidFill>
                <a:srgbClr val="464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9"/>
          <p:cNvSpPr txBox="1"/>
          <p:nvPr/>
        </p:nvSpPr>
        <p:spPr>
          <a:xfrm>
            <a:off x="4559300" y="2921000"/>
            <a:ext cx="33274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dotnet run --project src/StarTrek.Indexer</a:t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8255000" y="2032000"/>
            <a:ext cx="3429000" cy="4318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 txBox="1"/>
          <p:nvPr/>
        </p:nvSpPr>
        <p:spPr>
          <a:xfrm>
            <a:off x="8432800" y="2235200"/>
            <a:ext cx="3073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464744"/>
                </a:solidFill>
                <a:latin typeface="Arial"/>
                <a:ea typeface="Arial"/>
                <a:cs typeface="Arial"/>
                <a:sym typeface="Arial"/>
              </a:rPr>
              <a:t>Конфиг</a:t>
            </a:r>
            <a:endParaRPr sz="1200">
              <a:solidFill>
                <a:srgbClr val="464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8432800" y="2921000"/>
            <a:ext cx="30734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appsettings.json и STARTREK_* — пути, Chroma, чанки, BM25, RRF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"/>
          <p:cNvSpPr txBox="1"/>
          <p:nvPr/>
        </p:nvSpPr>
        <p:spPr>
          <a:xfrm>
            <a:off x="762000" y="993400"/>
            <a:ext cx="106680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ru-RU" sz="2000">
                <a:solidFill>
                  <a:srgbClr val="D0570B"/>
                </a:solidFill>
              </a:rPr>
              <a:t>MCP-инструменты</a:t>
            </a:r>
            <a:endParaRPr b="1" sz="2000">
              <a:solidFill>
                <a:srgbClr val="D057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1088475" y="2929450"/>
            <a:ext cx="1422300" cy="584100"/>
          </a:xfrm>
          <a:prstGeom prst="roundRect">
            <a:avLst>
              <a:gd fmla="val 16667" name="adj"/>
            </a:avLst>
          </a:prstGeom>
          <a:solidFill>
            <a:srgbClr val="F1F3F4"/>
          </a:solidFill>
          <a:ln cap="flat" cmpd="sng" w="9525">
            <a:solidFill>
              <a:srgbClr val="F1F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rgbClr val="202124"/>
                </a:solidFill>
              </a:rPr>
              <a:t>Клиент Агент</a:t>
            </a:r>
            <a:endParaRPr b="1" sz="1200">
              <a:solidFill>
                <a:srgbClr val="202124"/>
              </a:solidFill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3509850" y="2929450"/>
            <a:ext cx="1117500" cy="5841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 cap="flat" cmpd="sng" w="9525">
            <a:solidFill>
              <a:srgbClr val="0B5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rgbClr val="FFFFFF"/>
                </a:solidFill>
              </a:rPr>
              <a:t>MCP сервер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7086600" y="2019275"/>
            <a:ext cx="2070600" cy="584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rgbClr val="0B5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-RU" sz="13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search_bm25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7086600" y="3136950"/>
            <a:ext cx="2070600" cy="584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rgbClr val="0B5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-RU" sz="13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search_semantic</a:t>
            </a:r>
            <a:endParaRPr b="1" sz="1300">
              <a:solidFill>
                <a:srgbClr val="FFFFFF"/>
              </a:solidFill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7086600" y="4177850"/>
            <a:ext cx="2070600" cy="584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rgbClr val="0B5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-RU" sz="13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find_relevant_docs</a:t>
            </a:r>
            <a:endParaRPr b="1" sz="1300">
              <a:solidFill>
                <a:srgbClr val="FFFFFF"/>
              </a:solidFill>
            </a:endParaRPr>
          </a:p>
        </p:txBody>
      </p:sp>
      <p:cxnSp>
        <p:nvCxnSpPr>
          <p:cNvPr id="231" name="Google Shape;231;p10"/>
          <p:cNvCxnSpPr>
            <a:stCxn id="226" idx="3"/>
            <a:endCxn id="227" idx="1"/>
          </p:cNvCxnSpPr>
          <p:nvPr/>
        </p:nvCxnSpPr>
        <p:spPr>
          <a:xfrm>
            <a:off x="2510775" y="3221500"/>
            <a:ext cx="99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10"/>
          <p:cNvCxnSpPr>
            <a:stCxn id="227" idx="3"/>
            <a:endCxn id="228" idx="1"/>
          </p:cNvCxnSpPr>
          <p:nvPr/>
        </p:nvCxnSpPr>
        <p:spPr>
          <a:xfrm flipH="1" rot="10800000">
            <a:off x="4627350" y="2311300"/>
            <a:ext cx="2459400" cy="9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10"/>
          <p:cNvCxnSpPr>
            <a:stCxn id="227" idx="3"/>
            <a:endCxn id="229" idx="1"/>
          </p:cNvCxnSpPr>
          <p:nvPr/>
        </p:nvCxnSpPr>
        <p:spPr>
          <a:xfrm>
            <a:off x="4627350" y="3221500"/>
            <a:ext cx="2459400" cy="20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10"/>
          <p:cNvCxnSpPr>
            <a:stCxn id="227" idx="3"/>
            <a:endCxn id="230" idx="1"/>
          </p:cNvCxnSpPr>
          <p:nvPr/>
        </p:nvCxnSpPr>
        <p:spPr>
          <a:xfrm>
            <a:off x="4627350" y="3221500"/>
            <a:ext cx="2459400" cy="124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"/>
          <p:cNvSpPr txBox="1"/>
          <p:nvPr/>
        </p:nvSpPr>
        <p:spPr>
          <a:xfrm>
            <a:off x="508000" y="254000"/>
            <a:ext cx="111760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2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Corrective RAG и локальная LLM</a:t>
            </a:r>
            <a:endParaRPr b="1" sz="22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2"/>
          <p:cNvSpPr txBox="1"/>
          <p:nvPr/>
        </p:nvSpPr>
        <p:spPr>
          <a:xfrm>
            <a:off x="508000" y="736600"/>
            <a:ext cx="11176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464744"/>
                </a:solidFill>
                <a:latin typeface="Arial"/>
                <a:ea typeface="Arial"/>
                <a:cs typeface="Arial"/>
                <a:sym typeface="Arial"/>
              </a:rPr>
              <a:t>Граф из ТЗ. Локальная LLM — Qwen3-8B.</a:t>
            </a:r>
            <a:endParaRPr sz="1200">
              <a:solidFill>
                <a:srgbClr val="464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508000" y="1219200"/>
            <a:ext cx="5461000" cy="2540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 txBox="1"/>
          <p:nvPr/>
        </p:nvSpPr>
        <p:spPr>
          <a:xfrm>
            <a:off x="711200" y="1397000"/>
            <a:ext cx="5054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057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2"/>
          <p:cNvSpPr txBox="1"/>
          <p:nvPr/>
        </p:nvSpPr>
        <p:spPr>
          <a:xfrm>
            <a:off x="711200" y="1778000"/>
            <a:ext cx="50546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Rewrite → Retrieve → Grade → Generate</a:t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6223000" y="1219200"/>
            <a:ext cx="5461000" cy="2540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 txBox="1"/>
          <p:nvPr/>
        </p:nvSpPr>
        <p:spPr>
          <a:xfrm>
            <a:off x="6426200" y="1397000"/>
            <a:ext cx="5054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057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2"/>
          <p:cNvSpPr txBox="1"/>
          <p:nvPr/>
        </p:nvSpPr>
        <p:spPr>
          <a:xfrm>
            <a:off x="6426200" y="1778000"/>
            <a:ext cx="50546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Retrieve: BM25 + вектор, слияние RRF</a:t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508000" y="4013200"/>
            <a:ext cx="5461000" cy="2413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 txBox="1"/>
          <p:nvPr/>
        </p:nvSpPr>
        <p:spPr>
          <a:xfrm>
            <a:off x="711200" y="4191000"/>
            <a:ext cx="5054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057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2"/>
          <p:cNvSpPr txBox="1"/>
          <p:nvPr/>
        </p:nvSpPr>
        <p:spPr>
          <a:xfrm>
            <a:off x="711200" y="4572000"/>
            <a:ext cx="50546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Retry: Broaden Query, не больше 2 циклов</a:t>
            </a:r>
            <a:endParaRPr sz="15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6223000" y="4013200"/>
            <a:ext cx="5461000" cy="2413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 txBox="1"/>
          <p:nvPr/>
        </p:nvSpPr>
        <p:spPr>
          <a:xfrm>
            <a:off x="6426200" y="4191000"/>
            <a:ext cx="5054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D0570B"/>
                </a:solidFill>
                <a:latin typeface="Arial"/>
                <a:ea typeface="Arial"/>
                <a:cs typeface="Arial"/>
                <a:sym typeface="Arial"/>
              </a:rPr>
              <a:t>выбрана</a:t>
            </a:r>
            <a:endParaRPr sz="1200">
              <a:solidFill>
                <a:srgbClr val="D057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2"/>
          <p:cNvSpPr txBox="1"/>
          <p:nvPr/>
        </p:nvSpPr>
        <p:spPr>
          <a:xfrm>
            <a:off x="6426200" y="4572000"/>
            <a:ext cx="50546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Локальная LLM Qwen3-8B. Оркестрация — Semantic Kernel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"/>
          <p:cNvSpPr txBox="1"/>
          <p:nvPr/>
        </p:nvSpPr>
        <p:spPr>
          <a:xfrm>
            <a:off x="508000" y="254000"/>
            <a:ext cx="111760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2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Сдача: Docker, CI, конфиг IDE</a:t>
            </a:r>
            <a:endParaRPr b="1" sz="22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3"/>
          <p:cNvSpPr txBox="1"/>
          <p:nvPr/>
        </p:nvSpPr>
        <p:spPr>
          <a:xfrm>
            <a:off x="508000" y="736600"/>
            <a:ext cx="11176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464744"/>
                </a:solidFill>
                <a:latin typeface="Arial"/>
                <a:ea typeface="Arial"/>
                <a:cs typeface="Arial"/>
                <a:sym typeface="Arial"/>
              </a:rPr>
              <a:t>Инфраструктура из ТЗ. </a:t>
            </a:r>
            <a:endParaRPr sz="1200">
              <a:solidFill>
                <a:srgbClr val="464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508000" y="1219200"/>
            <a:ext cx="5461000" cy="2540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 txBox="1"/>
          <p:nvPr/>
        </p:nvSpPr>
        <p:spPr>
          <a:xfrm>
            <a:off x="711200" y="1778000"/>
            <a:ext cx="50546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Docker Compose: MCP-сервер + Qwen3-8B одной командой</a:t>
            </a:r>
            <a:endParaRPr sz="15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6223000" y="1219200"/>
            <a:ext cx="5461000" cy="2540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 txBox="1"/>
          <p:nvPr/>
        </p:nvSpPr>
        <p:spPr>
          <a:xfrm>
            <a:off x="6426200" y="1778000"/>
            <a:ext cx="50546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CI pipeline: lint; сборка образа — опционально</a:t>
            </a:r>
            <a:endParaRPr sz="15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508000" y="4013200"/>
            <a:ext cx="5461000" cy="2413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 txBox="1"/>
          <p:nvPr/>
        </p:nvSpPr>
        <p:spPr>
          <a:xfrm>
            <a:off x="711200" y="4572000"/>
            <a:ext cx="50546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Конфиг MCP для VS Code Copilot / Cursor</a:t>
            </a: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6223000" y="4013200"/>
            <a:ext cx="5461000" cy="2413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 txBox="1"/>
          <p:nvPr/>
        </p:nvSpPr>
        <p:spPr>
          <a:xfrm>
            <a:off x="6426200" y="4572000"/>
            <a:ext cx="50546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Проверка Inspector: status → index → ask → find_docs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"/>
          <p:cNvSpPr txBox="1"/>
          <p:nvPr/>
        </p:nvSpPr>
        <p:spPr>
          <a:xfrm>
            <a:off x="508000" y="254000"/>
            <a:ext cx="111760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2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Документы </a:t>
            </a:r>
            <a:endParaRPr b="1" sz="22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4"/>
          <p:cNvSpPr txBox="1"/>
          <p:nvPr/>
        </p:nvSpPr>
        <p:spPr>
          <a:xfrm>
            <a:off x="508000" y="736600"/>
            <a:ext cx="11176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64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508000" y="1219200"/>
            <a:ext cx="5461000" cy="2540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4"/>
          <p:cNvSpPr txBox="1"/>
          <p:nvPr/>
        </p:nvSpPr>
        <p:spPr>
          <a:xfrm>
            <a:off x="711200" y="1397000"/>
            <a:ext cx="5054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057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4"/>
          <p:cNvSpPr txBox="1"/>
          <p:nvPr/>
        </p:nvSpPr>
        <p:spPr>
          <a:xfrm>
            <a:off x="711200" y="1778000"/>
            <a:ext cx="50546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ARCHITECTURE.md</a:t>
            </a:r>
            <a:r>
              <a:rPr lang="ru-RU" sz="15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  — схема MCP, графа и индексов</a:t>
            </a:r>
            <a:endParaRPr sz="15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6223000" y="1219200"/>
            <a:ext cx="5461000" cy="2540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 txBox="1"/>
          <p:nvPr/>
        </p:nvSpPr>
        <p:spPr>
          <a:xfrm>
            <a:off x="6426200" y="1397000"/>
            <a:ext cx="5054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057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4"/>
          <p:cNvSpPr txBox="1"/>
          <p:nvPr/>
        </p:nvSpPr>
        <p:spPr>
          <a:xfrm>
            <a:off x="6426200" y="1778000"/>
            <a:ext cx="50546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Проверочные факты в файле </a:t>
            </a:r>
            <a:r>
              <a:rPr lang="ru-RU" sz="1500">
                <a:solidFill>
                  <a:srgbClr val="242120"/>
                </a:solidFill>
              </a:rPr>
              <a:t>Примеры вопросов</a:t>
            </a:r>
            <a:r>
              <a:rPr lang="ru-RU" sz="15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.md </a:t>
            </a:r>
            <a:endParaRPr sz="15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508000" y="4013200"/>
            <a:ext cx="5461000" cy="2413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 txBox="1"/>
          <p:nvPr/>
        </p:nvSpPr>
        <p:spPr>
          <a:xfrm>
            <a:off x="711200" y="4191000"/>
            <a:ext cx="5054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057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4"/>
          <p:cNvSpPr txBox="1"/>
          <p:nvPr/>
        </p:nvSpPr>
        <p:spPr>
          <a:xfrm>
            <a:off x="711200" y="4572000"/>
            <a:ext cx="50546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u="sng">
                <a:solidFill>
                  <a:schemeClr val="hlink"/>
                </a:solidFill>
                <a:hlinkClick r:id="rId4"/>
              </a:rPr>
              <a:t>REPORT.md</a:t>
            </a:r>
            <a:r>
              <a:rPr lang="ru-RU" sz="1500">
                <a:solidFill>
                  <a:srgbClr val="242120"/>
                </a:solidFill>
              </a:rPr>
              <a:t> - логирование своих шагов</a:t>
            </a:r>
            <a:endParaRPr sz="15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6223000" y="4013200"/>
            <a:ext cx="5461000" cy="24130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 txBox="1"/>
          <p:nvPr/>
        </p:nvSpPr>
        <p:spPr>
          <a:xfrm>
            <a:off x="6426200" y="4191000"/>
            <a:ext cx="5054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057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4"/>
          <p:cNvSpPr txBox="1"/>
          <p:nvPr/>
        </p:nvSpPr>
        <p:spPr>
          <a:xfrm>
            <a:off x="6426200" y="4572000"/>
            <a:ext cx="50546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u="sng">
                <a:solidFill>
                  <a:schemeClr val="hlink"/>
                </a:solidFill>
                <a:hlinkClick r:id="rId5"/>
              </a:rPr>
              <a:t>AGENTS.md</a:t>
            </a:r>
            <a:r>
              <a:rPr lang="ru-RU" sz="1500">
                <a:solidFill>
                  <a:srgbClr val="242120"/>
                </a:solidFill>
              </a:rPr>
              <a:t> - инструкции для агентов</a:t>
            </a:r>
            <a:endParaRPr sz="15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7"/>
          <p:cNvSpPr txBox="1"/>
          <p:nvPr/>
        </p:nvSpPr>
        <p:spPr>
          <a:xfrm>
            <a:off x="508000" y="254000"/>
            <a:ext cx="1117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Траты: токены и доллары</a:t>
            </a:r>
            <a:endParaRPr b="1" sz="240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623696" y="929288"/>
            <a:ext cx="3555900" cy="1397100"/>
          </a:xfrm>
          <a:prstGeom prst="roundRect">
            <a:avLst>
              <a:gd fmla="val 16667" name="adj"/>
            </a:avLst>
          </a:prstGeom>
          <a:solidFill>
            <a:srgbClr val="D057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 txBox="1"/>
          <p:nvPr/>
        </p:nvSpPr>
        <p:spPr>
          <a:xfrm>
            <a:off x="776096" y="1198463"/>
            <a:ext cx="325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Токены этого проекта</a:t>
            </a:r>
            <a:endParaRPr sz="1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7"/>
          <p:cNvSpPr txBox="1"/>
          <p:nvPr/>
        </p:nvSpPr>
        <p:spPr>
          <a:xfrm>
            <a:off x="775796" y="1475363"/>
            <a:ext cx="3251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98,8</a:t>
            </a:r>
            <a:r>
              <a:rPr b="1" lang="ru-RU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млн</a:t>
            </a:r>
            <a:endParaRPr/>
          </a:p>
        </p:txBody>
      </p:sp>
      <p:sp>
        <p:nvSpPr>
          <p:cNvPr id="293" name="Google Shape;293;p7"/>
          <p:cNvSpPr/>
          <p:nvPr/>
        </p:nvSpPr>
        <p:spPr>
          <a:xfrm>
            <a:off x="623700" y="2925071"/>
            <a:ext cx="3555900" cy="3318900"/>
          </a:xfrm>
          <a:prstGeom prst="roundRect">
            <a:avLst>
              <a:gd fmla="val 16667" name="adj"/>
            </a:avLst>
          </a:prstGeom>
          <a:solidFill>
            <a:srgbClr val="D0570B"/>
          </a:solidFill>
          <a:ln>
            <a:noFill/>
          </a:ln>
        </p:spPr>
        <p:txBody>
          <a:bodyPr anchorCtr="0" anchor="ctr" bIns="39800" lIns="79600" spcFirstLastPara="1" rIns="79600" wrap="square" tIns="39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8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 txBox="1"/>
          <p:nvPr/>
        </p:nvSpPr>
        <p:spPr>
          <a:xfrm>
            <a:off x="752998" y="3489224"/>
            <a:ext cx="329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9800" lIns="79600" spcFirstLastPara="1" rIns="79600" wrap="square" tIns="39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4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Деньги на ИИ за весь курс OTUS</a:t>
            </a:r>
            <a:endParaRPr sz="104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7"/>
          <p:cNvSpPr txBox="1"/>
          <p:nvPr/>
        </p:nvSpPr>
        <p:spPr>
          <a:xfrm>
            <a:off x="753298" y="4194975"/>
            <a:ext cx="32967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9800" lIns="79600" spcFirstLastPara="1" rIns="79600" wrap="square" tIns="39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7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$120</a:t>
            </a:r>
            <a:endParaRPr sz="1219"/>
          </a:p>
        </p:txBody>
      </p:sp>
      <p:sp>
        <p:nvSpPr>
          <p:cNvPr id="296" name="Google Shape;296;p7"/>
          <p:cNvSpPr txBox="1"/>
          <p:nvPr/>
        </p:nvSpPr>
        <p:spPr>
          <a:xfrm>
            <a:off x="752998" y="5024924"/>
            <a:ext cx="32967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9800" lIns="79600" spcFirstLastPara="1" rIns="79600" wrap="square" tIns="39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 $60 каждый месяц, итого $120</a:t>
            </a:r>
            <a:endParaRPr sz="1219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6033475" y="1198475"/>
            <a:ext cx="5468100" cy="3906600"/>
          </a:xfrm>
          <a:prstGeom prst="roundRect">
            <a:avLst>
              <a:gd fmla="val 1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46850" lIns="93750" spcFirstLastPara="1" rIns="93750" wrap="square" tIns="46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 txBox="1"/>
          <p:nvPr/>
        </p:nvSpPr>
        <p:spPr>
          <a:xfrm>
            <a:off x="6241569" y="1723067"/>
            <a:ext cx="5051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50" lIns="93750" spcFirstLastPara="1" rIns="93750" wrap="square" tIns="46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35">
                <a:solidFill>
                  <a:srgbClr val="464744"/>
                </a:solidFill>
              </a:rPr>
              <a:t>Траты токенов на проект</a:t>
            </a:r>
            <a:r>
              <a:rPr lang="ru-RU" sz="1435">
                <a:solidFill>
                  <a:srgbClr val="464744"/>
                </a:solidFill>
                <a:latin typeface="Arial"/>
                <a:ea typeface="Arial"/>
                <a:cs typeface="Arial"/>
                <a:sym typeface="Arial"/>
              </a:rPr>
              <a:t> MCP.RAG.StarTrek</a:t>
            </a:r>
            <a:endParaRPr sz="1640"/>
          </a:p>
        </p:txBody>
      </p:sp>
      <p:sp>
        <p:nvSpPr>
          <p:cNvPr id="299" name="Google Shape;299;p7"/>
          <p:cNvSpPr txBox="1"/>
          <p:nvPr/>
        </p:nvSpPr>
        <p:spPr>
          <a:xfrm>
            <a:off x="6894420" y="2175746"/>
            <a:ext cx="3319200" cy="21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50" lIns="93750" spcFirstLastPara="1" rIns="93750" wrap="square" tIns="46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4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Cache Read — </a:t>
            </a:r>
            <a:r>
              <a:rPr lang="ru-RU" sz="164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66,7</a:t>
            </a:r>
            <a:r>
              <a:rPr lang="ru-RU" sz="164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 млн</a:t>
            </a:r>
            <a:endParaRPr sz="164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0">
              <a:solidFill>
                <a:srgbClr val="24212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4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Cache Write — 1,5 млн</a:t>
            </a:r>
            <a:endParaRPr sz="164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0">
              <a:solidFill>
                <a:srgbClr val="24212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4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Input — 6,7 млн</a:t>
            </a:r>
            <a:endParaRPr sz="1640">
              <a:solidFill>
                <a:srgbClr val="24212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0">
              <a:solidFill>
                <a:srgbClr val="24212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40">
                <a:solidFill>
                  <a:srgbClr val="242120"/>
                </a:solidFill>
                <a:latin typeface="Arial"/>
                <a:ea typeface="Arial"/>
                <a:cs typeface="Arial"/>
                <a:sym typeface="Arial"/>
              </a:rPr>
              <a:t>Output — 1,0 млн</a:t>
            </a:r>
            <a:endParaRPr sz="1435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5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h5725e6b1b9df4986_0_31"/>
          <p:cNvSpPr/>
          <p:nvPr/>
        </p:nvSpPr>
        <p:spPr>
          <a:xfrm>
            <a:off x="731458" y="1031855"/>
            <a:ext cx="10400400" cy="4794300"/>
          </a:xfrm>
          <a:prstGeom prst="roundRect">
            <a:avLst>
              <a:gd fmla="val 16667" name="adj"/>
            </a:avLst>
          </a:prstGeom>
          <a:solidFill>
            <a:srgbClr val="D057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h5725e6b1b9df4986_0_31"/>
          <p:cNvSpPr txBox="1"/>
          <p:nvPr/>
        </p:nvSpPr>
        <p:spPr>
          <a:xfrm>
            <a:off x="3839850" y="3121200"/>
            <a:ext cx="4512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lt1"/>
                </a:solidFill>
              </a:rPr>
              <a:t>Спасибо за внимание!</a:t>
            </a:r>
            <a:endParaRPr b="1" sz="2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2026-10-12T13:32:41Z</dcterms:created>
  <dc:creator>Ольга Васильева</dc:creator>
</cp:coreProperties>
</file>