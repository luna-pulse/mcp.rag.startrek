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</p:sldIdLst>
  <p:sldSz cy="6858000" cx="12192000"/>
  <p:notesSz cx="6858000" cy="9144000"/>
  <p:embeddedFontLst>
    <p:embeddedFont>
      <p:font typeface="Roboto Mono"/>
      <p:regular r:id="rId19"/>
      <p:bold r:id="rId20"/>
      <p:italic r:id="rId21"/>
      <p:boldItalic r:id="rId22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23" roundtripDataSignature="AMtx7mir9sO0efDHY7v501bd5+GEJeZV0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font" Target="fonts/RobotoMono-bold.fntdata"/><Relationship Id="rId11" Type="http://schemas.openxmlformats.org/officeDocument/2006/relationships/slide" Target="slides/slide7.xml"/><Relationship Id="rId22" Type="http://schemas.openxmlformats.org/officeDocument/2006/relationships/font" Target="fonts/RobotoMono-boldItalic.fntdata"/><Relationship Id="rId10" Type="http://schemas.openxmlformats.org/officeDocument/2006/relationships/slide" Target="slides/slide6.xml"/><Relationship Id="rId21" Type="http://schemas.openxmlformats.org/officeDocument/2006/relationships/font" Target="fonts/RobotoMono-italic.fntdata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23" Type="http://customschemas.google.com/relationships/presentationmetadata" Target="meta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5" Type="http://schemas.openxmlformats.org/officeDocument/2006/relationships/slide" Target="slides/slide1.xml"/><Relationship Id="rId19" Type="http://schemas.openxmlformats.org/officeDocument/2006/relationships/font" Target="fonts/RobotoMono-regular.fntdata"/><Relationship Id="rId6" Type="http://schemas.openxmlformats.org/officeDocument/2006/relationships/slide" Target="slides/slide2.xml"/><Relationship Id="rId18" Type="http://schemas.openxmlformats.org/officeDocument/2006/relationships/slide" Target="slides/slide14.xml"/><Relationship Id="rId7" Type="http://schemas.openxmlformats.org/officeDocument/2006/relationships/slide" Target="slides/slide3.xml"/><Relationship Id="rId8" Type="http://schemas.openxmlformats.org/officeDocument/2006/relationships/slide" Target="slides/slide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0" name="Google Shape;90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4" name="Google Shape;104;p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6" name="Google Shape;116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9" name="Google Shape;179;p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9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1" name="Google Shape;201;p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7" name="Google Shape;237;p1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5" name="Google Shape;255;p1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7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9" name="Google Shape;269;p1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7" name="Google Shape;287;p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h5725e6b1b9df4986_0_31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2" name="Google Shape;302;h5725e6b1b9df4986_0_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6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16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16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7"/>
          <p:cNvSpPr txBox="1"/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17"/>
          <p:cNvSpPr txBox="1"/>
          <p:nvPr>
            <p:ph idx="1" type="subTitle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18" name="Google Shape;18;p17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17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17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18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18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18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18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18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19"/>
          <p:cNvSpPr txBox="1"/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19"/>
          <p:cNvSpPr txBox="1"/>
          <p:nvPr>
            <p:ph idx="1" type="body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19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19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19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20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20"/>
          <p:cNvSpPr txBox="1"/>
          <p:nvPr>
            <p:ph idx="1" type="body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" name="Google Shape;36;p20"/>
          <p:cNvSpPr txBox="1"/>
          <p:nvPr>
            <p:ph idx="2" type="body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" name="Google Shape;37;p2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2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2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21"/>
          <p:cNvSpPr txBox="1"/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21"/>
          <p:cNvSpPr txBox="1"/>
          <p:nvPr>
            <p:ph idx="1" type="body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21"/>
          <p:cNvSpPr txBox="1"/>
          <p:nvPr>
            <p:ph idx="2" type="body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4" name="Google Shape;44;p21"/>
          <p:cNvSpPr txBox="1"/>
          <p:nvPr>
            <p:ph idx="3" type="body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21"/>
          <p:cNvSpPr txBox="1"/>
          <p:nvPr>
            <p:ph idx="4" type="body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6" name="Google Shape;46;p21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21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21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22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22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22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22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3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23"/>
          <p:cNvSpPr txBox="1"/>
          <p:nvPr>
            <p:ph idx="1" type="body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indent="-3810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indent="-355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indent="-355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23"/>
          <p:cNvSpPr txBox="1"/>
          <p:nvPr>
            <p:ph idx="2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58" name="Google Shape;58;p2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2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23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24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24"/>
          <p:cNvSpPr/>
          <p:nvPr>
            <p:ph idx="2" type="pic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24"/>
          <p:cNvSpPr txBox="1"/>
          <p:nvPr>
            <p:ph idx="1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65" name="Google Shape;65;p24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24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24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25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25"/>
          <p:cNvSpPr txBox="1"/>
          <p:nvPr>
            <p:ph idx="1" type="body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2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2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25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26"/>
          <p:cNvSpPr txBox="1"/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26"/>
          <p:cNvSpPr txBox="1"/>
          <p:nvPr>
            <p:ph idx="1" type="body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26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26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26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5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15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5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hyperlink" Target="http://architecture.md" TargetMode="External"/><Relationship Id="rId4" Type="http://schemas.openxmlformats.org/officeDocument/2006/relationships/hyperlink" Target="http://report.md" TargetMode="External"/><Relationship Id="rId5" Type="http://schemas.openxmlformats.org/officeDocument/2006/relationships/hyperlink" Target="http://agents.md" TargetMode="Externa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"/>
          <p:cNvSpPr txBox="1"/>
          <p:nvPr/>
        </p:nvSpPr>
        <p:spPr>
          <a:xfrm>
            <a:off x="1015950" y="1569875"/>
            <a:ext cx="10160100" cy="708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4000">
                <a:solidFill>
                  <a:srgbClr val="B45F06"/>
                </a:solidFill>
                <a:highlight>
                  <a:srgbClr val="F8F8F8"/>
                </a:highlight>
              </a:rPr>
              <a:t>RAG Knowledge Base: MCP-сервер с локальной LLM и Microsoft Semantic Kernel</a:t>
            </a:r>
            <a:r>
              <a:rPr lang="ru-RU" sz="4000">
                <a:solidFill>
                  <a:srgbClr val="B45F06"/>
                </a:solidFill>
              </a:rPr>
              <a:t> </a:t>
            </a:r>
            <a:endParaRPr sz="4000">
              <a:solidFill>
                <a:srgbClr val="B45F06"/>
              </a:solidFill>
            </a:endParaRPr>
          </a:p>
        </p:txBody>
      </p:sp>
      <p:sp>
        <p:nvSpPr>
          <p:cNvPr id="85" name="Google Shape;85;p1"/>
          <p:cNvSpPr txBox="1"/>
          <p:nvPr/>
        </p:nvSpPr>
        <p:spPr>
          <a:xfrm>
            <a:off x="1016000" y="2717800"/>
            <a:ext cx="101600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24212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" name="Google Shape;86;p1"/>
          <p:cNvSpPr txBox="1"/>
          <p:nvPr/>
        </p:nvSpPr>
        <p:spPr>
          <a:xfrm>
            <a:off x="1016050" y="4772125"/>
            <a:ext cx="10160100" cy="492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ru-RU" sz="2600" u="none" cap="none" strike="noStrike">
                <a:solidFill>
                  <a:srgbClr val="242120"/>
                </a:solidFill>
                <a:latin typeface="Arial"/>
                <a:ea typeface="Arial"/>
                <a:cs typeface="Arial"/>
                <a:sym typeface="Arial"/>
              </a:rPr>
              <a:t>Васильева Ольга Витальевна</a:t>
            </a:r>
            <a:endParaRPr b="1" i="0" sz="2600" u="none" cap="none" strike="noStrike">
              <a:solidFill>
                <a:srgbClr val="24212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" name="Google Shape;87;p1"/>
          <p:cNvSpPr txBox="1"/>
          <p:nvPr/>
        </p:nvSpPr>
        <p:spPr>
          <a:xfrm>
            <a:off x="1016050" y="5356325"/>
            <a:ext cx="101601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ru-RU" sz="1600" u="none" cap="none" strike="noStrike">
                <a:solidFill>
                  <a:srgbClr val="464744"/>
                </a:solidFill>
                <a:latin typeface="Arial"/>
                <a:ea typeface="Arial"/>
                <a:cs typeface="Arial"/>
                <a:sym typeface="Arial"/>
              </a:rPr>
              <a:t>студент OTUS  ·  2026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2"/>
          <p:cNvSpPr txBox="1"/>
          <p:nvPr/>
        </p:nvSpPr>
        <p:spPr>
          <a:xfrm>
            <a:off x="609600" y="355600"/>
            <a:ext cx="10972800" cy="49244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ru-RU" sz="2600" u="none" cap="none" strike="noStrike">
                <a:solidFill>
                  <a:srgbClr val="242120"/>
                </a:solidFill>
                <a:latin typeface="Arial"/>
                <a:ea typeface="Arial"/>
                <a:cs typeface="Arial"/>
                <a:sym typeface="Arial"/>
              </a:rPr>
              <a:t>О проекте</a:t>
            </a:r>
            <a:endParaRPr b="1" sz="2600">
              <a:solidFill>
                <a:srgbClr val="24212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3" name="Google Shape;93;p2"/>
          <p:cNvSpPr/>
          <p:nvPr/>
        </p:nvSpPr>
        <p:spPr>
          <a:xfrm>
            <a:off x="609600" y="1143000"/>
            <a:ext cx="3556000" cy="5080000"/>
          </a:xfrm>
          <a:prstGeom prst="roundRect">
            <a:avLst>
              <a:gd fmla="val 16667" name="adj"/>
            </a:avLst>
          </a:prstGeom>
          <a:solidFill>
            <a:srgbClr val="F4F3F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" name="Google Shape;94;p2"/>
          <p:cNvSpPr txBox="1"/>
          <p:nvPr/>
        </p:nvSpPr>
        <p:spPr>
          <a:xfrm>
            <a:off x="812800" y="2351561"/>
            <a:ext cx="31497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>
                <a:solidFill>
                  <a:srgbClr val="464744"/>
                </a:solidFill>
                <a:latin typeface="Arial"/>
                <a:ea typeface="Arial"/>
                <a:cs typeface="Arial"/>
                <a:sym typeface="Arial"/>
              </a:rPr>
              <a:t>Предметная область</a:t>
            </a:r>
            <a:endParaRPr sz="1200">
              <a:solidFill>
                <a:srgbClr val="464744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5" name="Google Shape;95;p2"/>
          <p:cNvSpPr txBox="1"/>
          <p:nvPr/>
        </p:nvSpPr>
        <p:spPr>
          <a:xfrm>
            <a:off x="812800" y="2757961"/>
            <a:ext cx="3149700" cy="1015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>
                <a:solidFill>
                  <a:srgbClr val="242120"/>
                </a:solidFill>
                <a:latin typeface="Arial"/>
                <a:ea typeface="Arial"/>
                <a:cs typeface="Arial"/>
                <a:sym typeface="Arial"/>
              </a:rPr>
              <a:t>Выбранная предметная область — сериал Star Trek. Файлы на русском в SourceFiles: расы, планеты, корабли, сериалы.</a:t>
            </a:r>
            <a:endParaRPr sz="1500">
              <a:solidFill>
                <a:srgbClr val="24212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" name="Google Shape;96;p2"/>
          <p:cNvSpPr/>
          <p:nvPr/>
        </p:nvSpPr>
        <p:spPr>
          <a:xfrm>
            <a:off x="4318000" y="1143000"/>
            <a:ext cx="3556000" cy="5080000"/>
          </a:xfrm>
          <a:prstGeom prst="roundRect">
            <a:avLst>
              <a:gd fmla="val 16667" name="adj"/>
            </a:avLst>
          </a:prstGeom>
          <a:solidFill>
            <a:srgbClr val="F4F3F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" name="Google Shape;97;p2"/>
          <p:cNvSpPr txBox="1"/>
          <p:nvPr/>
        </p:nvSpPr>
        <p:spPr>
          <a:xfrm>
            <a:off x="4521200" y="2351561"/>
            <a:ext cx="31497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>
                <a:solidFill>
                  <a:srgbClr val="464744"/>
                </a:solidFill>
                <a:latin typeface="Arial"/>
                <a:ea typeface="Arial"/>
                <a:cs typeface="Arial"/>
                <a:sym typeface="Arial"/>
              </a:rPr>
              <a:t>Цель</a:t>
            </a:r>
            <a:endParaRPr sz="1200">
              <a:solidFill>
                <a:srgbClr val="464744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8" name="Google Shape;98;p2"/>
          <p:cNvSpPr txBox="1"/>
          <p:nvPr/>
        </p:nvSpPr>
        <p:spPr>
          <a:xfrm>
            <a:off x="4521200" y="2757961"/>
            <a:ext cx="3149700" cy="7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>
                <a:solidFill>
                  <a:srgbClr val="242120"/>
                </a:solidFill>
                <a:latin typeface="Arial"/>
                <a:ea typeface="Arial"/>
                <a:cs typeface="Arial"/>
                <a:sym typeface="Arial"/>
              </a:rPr>
              <a:t>База знаний в IDE: агент отвечает по файлам проекта, а не из общих знаний модели.</a:t>
            </a:r>
            <a:endParaRPr sz="1500">
              <a:solidFill>
                <a:srgbClr val="24212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9" name="Google Shape;99;p2"/>
          <p:cNvSpPr/>
          <p:nvPr/>
        </p:nvSpPr>
        <p:spPr>
          <a:xfrm>
            <a:off x="8026400" y="1143000"/>
            <a:ext cx="3556000" cy="5080000"/>
          </a:xfrm>
          <a:prstGeom prst="roundRect">
            <a:avLst>
              <a:gd fmla="val 16667" name="adj"/>
            </a:avLst>
          </a:prstGeom>
          <a:solidFill>
            <a:srgbClr val="F4F3F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" name="Google Shape;100;p2"/>
          <p:cNvSpPr txBox="1"/>
          <p:nvPr/>
        </p:nvSpPr>
        <p:spPr>
          <a:xfrm>
            <a:off x="8229600" y="2351561"/>
            <a:ext cx="31497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>
                <a:solidFill>
                  <a:srgbClr val="464744"/>
                </a:solidFill>
              </a:rPr>
              <a:t>Результат</a:t>
            </a:r>
            <a:endParaRPr sz="1200">
              <a:solidFill>
                <a:srgbClr val="464744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1" name="Google Shape;101;p2"/>
          <p:cNvSpPr txBox="1"/>
          <p:nvPr/>
        </p:nvSpPr>
        <p:spPr>
          <a:xfrm>
            <a:off x="8229600" y="2757961"/>
            <a:ext cx="3149700" cy="15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>
                <a:solidFill>
                  <a:srgbClr val="242120"/>
                </a:solidFill>
              </a:rPr>
              <a:t>Поиск по RAG через локальную LLM</a:t>
            </a:r>
            <a:endParaRPr sz="1500">
              <a:solidFill>
                <a:srgbClr val="24212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6"/>
          <p:cNvSpPr txBox="1"/>
          <p:nvPr/>
        </p:nvSpPr>
        <p:spPr>
          <a:xfrm>
            <a:off x="508000" y="254000"/>
            <a:ext cx="11176000" cy="46166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ru-RU" sz="2400">
                <a:solidFill>
                  <a:srgbClr val="242120"/>
                </a:solidFill>
                <a:latin typeface="Arial"/>
                <a:ea typeface="Arial"/>
                <a:cs typeface="Arial"/>
                <a:sym typeface="Arial"/>
              </a:rPr>
              <a:t>Требования </a:t>
            </a:r>
            <a:r>
              <a:rPr b="1" lang="ru-RU" sz="2400">
                <a:solidFill>
                  <a:srgbClr val="242120"/>
                </a:solidFill>
              </a:rPr>
              <a:t>к проекту</a:t>
            </a:r>
            <a:endParaRPr b="1" sz="2400">
              <a:solidFill>
                <a:srgbClr val="24212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7" name="Google Shape;107;p6"/>
          <p:cNvSpPr txBox="1"/>
          <p:nvPr/>
        </p:nvSpPr>
        <p:spPr>
          <a:xfrm>
            <a:off x="508000" y="711200"/>
            <a:ext cx="11176000" cy="27699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8" name="Google Shape;108;p6"/>
          <p:cNvSpPr/>
          <p:nvPr/>
        </p:nvSpPr>
        <p:spPr>
          <a:xfrm>
            <a:off x="508000" y="1143000"/>
            <a:ext cx="5461000" cy="5334000"/>
          </a:xfrm>
          <a:prstGeom prst="roundRect">
            <a:avLst>
              <a:gd fmla="val 16667" name="adj"/>
            </a:avLst>
          </a:prstGeom>
          <a:solidFill>
            <a:srgbClr val="D0570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9" name="Google Shape;109;p6"/>
          <p:cNvSpPr txBox="1"/>
          <p:nvPr/>
        </p:nvSpPr>
        <p:spPr>
          <a:xfrm>
            <a:off x="711200" y="1320800"/>
            <a:ext cx="5054600" cy="2923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Функциональные</a:t>
            </a:r>
            <a:endParaRPr sz="2000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0" name="Google Shape;110;p6"/>
          <p:cNvSpPr txBox="1"/>
          <p:nvPr/>
        </p:nvSpPr>
        <p:spPr>
          <a:xfrm>
            <a:off x="711150" y="2062325"/>
            <a:ext cx="5054700" cy="384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MCP-сервер в IDE</a:t>
            </a:r>
            <a:endParaRPr sz="2000"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Индексация файлов предметной области — сериал Star Trek</a:t>
            </a:r>
            <a:endParaRPr sz="2000"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Ответы из файлов, не из общих знаний модели</a:t>
            </a:r>
            <a:endParaRPr sz="2000"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4 инструмента: index_folder, ask_question, find_relevant_docs, index_status</a:t>
            </a:r>
            <a:endParaRPr sz="2000"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Corrective RAG: rewrite → retrieve → grade → generate</a:t>
            </a:r>
            <a:endParaRPr sz="2000"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Гибридный поиск: BM25 + вектор → RRF</a:t>
            </a:r>
            <a:endParaRPr sz="2000"/>
          </a:p>
        </p:txBody>
      </p:sp>
      <p:sp>
        <p:nvSpPr>
          <p:cNvPr id="111" name="Google Shape;111;p6"/>
          <p:cNvSpPr/>
          <p:nvPr/>
        </p:nvSpPr>
        <p:spPr>
          <a:xfrm>
            <a:off x="6223000" y="1143000"/>
            <a:ext cx="5461000" cy="5334000"/>
          </a:xfrm>
          <a:prstGeom prst="roundRect">
            <a:avLst>
              <a:gd fmla="val 16667" name="adj"/>
            </a:avLst>
          </a:prstGeom>
          <a:solidFill>
            <a:srgbClr val="F4F3F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2" name="Google Shape;112;p6"/>
          <p:cNvSpPr txBox="1"/>
          <p:nvPr/>
        </p:nvSpPr>
        <p:spPr>
          <a:xfrm>
            <a:off x="6426200" y="1320800"/>
            <a:ext cx="5054600" cy="2923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464744"/>
                </a:solidFill>
                <a:latin typeface="Arial"/>
                <a:ea typeface="Arial"/>
                <a:cs typeface="Arial"/>
                <a:sym typeface="Arial"/>
              </a:rPr>
              <a:t>Нефункциональные</a:t>
            </a:r>
            <a:endParaRPr sz="2000">
              <a:solidFill>
                <a:srgbClr val="464744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3" name="Google Shape;113;p6"/>
          <p:cNvSpPr txBox="1"/>
          <p:nvPr/>
        </p:nvSpPr>
        <p:spPr>
          <a:xfrm>
            <a:off x="6426150" y="2062325"/>
            <a:ext cx="5054700" cy="343380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242120"/>
                </a:solidFill>
                <a:latin typeface="Arial"/>
                <a:ea typeface="Arial"/>
                <a:cs typeface="Arial"/>
                <a:sym typeface="Arial"/>
              </a:rPr>
              <a:t>C# / .NET 10</a:t>
            </a:r>
            <a:endParaRPr sz="2000">
              <a:solidFill>
                <a:srgbClr val="24212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ru-RU" sz="2000">
                <a:solidFill>
                  <a:srgbClr val="464744"/>
                </a:solidFill>
              </a:rPr>
              <a:t>Semantic Kernel вместо LangGraph</a:t>
            </a:r>
            <a:endParaRPr sz="2000">
              <a:solidFill>
                <a:srgbClr val="242120"/>
              </a:solidFill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242120"/>
                </a:solidFill>
                <a:latin typeface="Arial"/>
                <a:ea typeface="Arial"/>
                <a:cs typeface="Arial"/>
                <a:sym typeface="Arial"/>
              </a:rPr>
              <a:t>Docker Compose, локальный запуск</a:t>
            </a:r>
            <a:endParaRPr sz="2000"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242120"/>
                </a:solidFill>
                <a:latin typeface="Arial"/>
                <a:ea typeface="Arial"/>
                <a:cs typeface="Arial"/>
                <a:sym typeface="Arial"/>
              </a:rPr>
              <a:t>Локальная LLM Qwen3-8B</a:t>
            </a:r>
            <a:endParaRPr sz="2000"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242120"/>
                </a:solidFill>
                <a:latin typeface="Arial"/>
                <a:ea typeface="Arial"/>
                <a:cs typeface="Arial"/>
                <a:sym typeface="Arial"/>
              </a:rPr>
              <a:t>Embeddings: ONNX e5-small</a:t>
            </a:r>
            <a:endParaRPr sz="2000"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242120"/>
                </a:solidFill>
                <a:latin typeface="Arial"/>
                <a:ea typeface="Arial"/>
                <a:cs typeface="Arial"/>
                <a:sym typeface="Arial"/>
              </a:rPr>
              <a:t>Конфиг в appsettings.json, без секретов в коде</a:t>
            </a:r>
            <a:endParaRPr sz="2000"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242120"/>
                </a:solidFill>
                <a:latin typeface="Arial"/>
                <a:ea typeface="Arial"/>
                <a:cs typeface="Arial"/>
                <a:sym typeface="Arial"/>
              </a:rPr>
              <a:t>Оркестрация: Semantic Kernel</a:t>
            </a:r>
            <a:endParaRPr sz="2000"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242120"/>
                </a:solidFill>
                <a:latin typeface="Arial"/>
                <a:ea typeface="Arial"/>
                <a:cs typeface="Arial"/>
                <a:sym typeface="Arial"/>
              </a:rPr>
              <a:t>Документы предметной области ≥ 500 КБ</a:t>
            </a:r>
            <a:endParaRPr sz="2000">
              <a:solidFill>
                <a:srgbClr val="24212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3"/>
          <p:cNvSpPr txBox="1"/>
          <p:nvPr/>
        </p:nvSpPr>
        <p:spPr>
          <a:xfrm>
            <a:off x="508000" y="304800"/>
            <a:ext cx="11176000" cy="49244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ru-RU" sz="2600">
                <a:solidFill>
                  <a:srgbClr val="242120"/>
                </a:solidFill>
                <a:latin typeface="Arial"/>
                <a:ea typeface="Arial"/>
                <a:cs typeface="Arial"/>
                <a:sym typeface="Arial"/>
              </a:rPr>
              <a:t>Схема индексации</a:t>
            </a:r>
            <a:endParaRPr b="1" sz="2600">
              <a:solidFill>
                <a:srgbClr val="24212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3"/>
          <p:cNvSpPr txBox="1"/>
          <p:nvPr/>
        </p:nvSpPr>
        <p:spPr>
          <a:xfrm>
            <a:off x="508000" y="812800"/>
            <a:ext cx="11176000" cy="27699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>
                <a:solidFill>
                  <a:srgbClr val="464744"/>
                </a:solidFill>
                <a:latin typeface="Arial"/>
                <a:ea typeface="Arial"/>
                <a:cs typeface="Arial"/>
                <a:sym typeface="Arial"/>
              </a:rPr>
              <a:t>По README: файлы предметной области идут в команды, затем в два индекса.</a:t>
            </a:r>
            <a:endParaRPr sz="1200">
              <a:solidFill>
                <a:srgbClr val="464744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0" name="Google Shape;120;p3"/>
          <p:cNvSpPr/>
          <p:nvPr/>
        </p:nvSpPr>
        <p:spPr>
          <a:xfrm>
            <a:off x="406400" y="2736400"/>
            <a:ext cx="2063100" cy="8598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12900">
            <a:solidFill>
              <a:srgbClr val="0B57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123750" lIns="123750" spcFirstLastPara="1" rIns="123750" wrap="square" tIns="12375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ru-RU" sz="1624">
                <a:solidFill>
                  <a:srgbClr val="FFFFFF"/>
                </a:solidFill>
              </a:rPr>
              <a:t>SourceFiles</a:t>
            </a:r>
            <a:endParaRPr b="1" sz="1624">
              <a:solidFill>
                <a:srgbClr val="FFFFFF"/>
              </a:solidFill>
            </a:endParaRPr>
          </a:p>
        </p:txBody>
      </p:sp>
      <p:sp>
        <p:nvSpPr>
          <p:cNvPr id="121" name="Google Shape;121;p3"/>
          <p:cNvSpPr/>
          <p:nvPr/>
        </p:nvSpPr>
        <p:spPr>
          <a:xfrm>
            <a:off x="2916384" y="1498600"/>
            <a:ext cx="1856700" cy="790800"/>
          </a:xfrm>
          <a:prstGeom prst="roundRect">
            <a:avLst>
              <a:gd fmla="val 16667" name="adj"/>
            </a:avLst>
          </a:prstGeom>
          <a:solidFill>
            <a:srgbClr val="F1F3F4"/>
          </a:solidFill>
          <a:ln cap="flat" cmpd="sng" w="12900">
            <a:solidFill>
              <a:srgbClr val="F1F3F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123750" lIns="123750" spcFirstLastPara="1" rIns="123750" wrap="square" tIns="12375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ru-RU" sz="1624">
                <a:solidFill>
                  <a:srgbClr val="202124"/>
                </a:solidFill>
              </a:rPr>
              <a:t>analyze</a:t>
            </a:r>
            <a:endParaRPr b="1" sz="1624">
              <a:solidFill>
                <a:srgbClr val="202124"/>
              </a:solidFill>
            </a:endParaRPr>
          </a:p>
        </p:txBody>
      </p:sp>
      <p:sp>
        <p:nvSpPr>
          <p:cNvPr id="122" name="Google Shape;122;p3"/>
          <p:cNvSpPr/>
          <p:nvPr/>
        </p:nvSpPr>
        <p:spPr>
          <a:xfrm>
            <a:off x="2916384" y="3389684"/>
            <a:ext cx="1856700" cy="790800"/>
          </a:xfrm>
          <a:prstGeom prst="roundRect">
            <a:avLst>
              <a:gd fmla="val 16667" name="adj"/>
            </a:avLst>
          </a:prstGeom>
          <a:solidFill>
            <a:srgbClr val="F1F3F4"/>
          </a:solidFill>
          <a:ln cap="flat" cmpd="sng" w="12900">
            <a:solidFill>
              <a:srgbClr val="F1F3F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123750" lIns="123750" spcFirstLastPara="1" rIns="123750" wrap="square" tIns="12375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ru-RU" sz="1624">
                <a:solidFill>
                  <a:srgbClr val="202124"/>
                </a:solidFill>
              </a:rPr>
              <a:t>chunk</a:t>
            </a:r>
            <a:endParaRPr b="1" sz="1624">
              <a:solidFill>
                <a:srgbClr val="202124"/>
              </a:solidFill>
            </a:endParaRPr>
          </a:p>
        </p:txBody>
      </p:sp>
      <p:sp>
        <p:nvSpPr>
          <p:cNvPr id="123" name="Google Shape;123;p3"/>
          <p:cNvSpPr/>
          <p:nvPr/>
        </p:nvSpPr>
        <p:spPr>
          <a:xfrm>
            <a:off x="5185684" y="3389684"/>
            <a:ext cx="1925400" cy="790800"/>
          </a:xfrm>
          <a:prstGeom prst="roundRect">
            <a:avLst>
              <a:gd fmla="val 16667" name="adj"/>
            </a:avLst>
          </a:prstGeom>
          <a:solidFill>
            <a:srgbClr val="F1F3F4"/>
          </a:solidFill>
          <a:ln cap="flat" cmpd="sng" w="12900">
            <a:solidFill>
              <a:srgbClr val="F1F3F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123750" lIns="123750" spcFirstLastPara="1" rIns="123750" wrap="square" tIns="12375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ru-RU" sz="1624">
                <a:solidFill>
                  <a:srgbClr val="202124"/>
                </a:solidFill>
              </a:rPr>
              <a:t>stagingJson</a:t>
            </a:r>
            <a:endParaRPr b="1" sz="1624">
              <a:solidFill>
                <a:srgbClr val="202124"/>
              </a:solidFill>
            </a:endParaRPr>
          </a:p>
        </p:txBody>
      </p:sp>
      <p:sp>
        <p:nvSpPr>
          <p:cNvPr id="124" name="Google Shape;124;p3"/>
          <p:cNvSpPr/>
          <p:nvPr/>
        </p:nvSpPr>
        <p:spPr>
          <a:xfrm>
            <a:off x="5185684" y="4833784"/>
            <a:ext cx="1925400" cy="790800"/>
          </a:xfrm>
          <a:prstGeom prst="roundRect">
            <a:avLst>
              <a:gd fmla="val 16667" name="adj"/>
            </a:avLst>
          </a:prstGeom>
          <a:solidFill>
            <a:srgbClr val="F1F3F4"/>
          </a:solidFill>
          <a:ln cap="flat" cmpd="sng" w="12900">
            <a:solidFill>
              <a:srgbClr val="F1F3F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123750" lIns="123750" spcFirstLastPara="1" rIns="123750" wrap="square" tIns="12375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ru-RU" sz="1489">
                <a:solidFill>
                  <a:srgbClr val="202124"/>
                </a:solidFill>
              </a:rPr>
              <a:t>e5small_ONNX</a:t>
            </a:r>
            <a:endParaRPr b="1" sz="1489">
              <a:solidFill>
                <a:srgbClr val="202124"/>
              </a:solidFill>
            </a:endParaRPr>
          </a:p>
        </p:txBody>
      </p:sp>
      <p:sp>
        <p:nvSpPr>
          <p:cNvPr id="125" name="Google Shape;125;p3"/>
          <p:cNvSpPr/>
          <p:nvPr/>
        </p:nvSpPr>
        <p:spPr>
          <a:xfrm>
            <a:off x="7523751" y="3389684"/>
            <a:ext cx="1512600" cy="7908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12900">
            <a:solidFill>
              <a:srgbClr val="0B57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123750" lIns="123750" spcFirstLastPara="1" rIns="123750" wrap="square" tIns="12375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ru-RU" sz="1624">
                <a:solidFill>
                  <a:srgbClr val="FFFFFF"/>
                </a:solidFill>
              </a:rPr>
              <a:t>embed</a:t>
            </a:r>
            <a:endParaRPr b="1" sz="1624">
              <a:solidFill>
                <a:srgbClr val="FFFFFF"/>
              </a:solidFill>
            </a:endParaRPr>
          </a:p>
        </p:txBody>
      </p:sp>
      <p:sp>
        <p:nvSpPr>
          <p:cNvPr id="126" name="Google Shape;126;p3"/>
          <p:cNvSpPr/>
          <p:nvPr/>
        </p:nvSpPr>
        <p:spPr>
          <a:xfrm>
            <a:off x="9449218" y="1704900"/>
            <a:ext cx="2234700" cy="7908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12900">
            <a:solidFill>
              <a:srgbClr val="0B57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123750" lIns="123750" spcFirstLastPara="1" rIns="123750" wrap="square" tIns="12375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ru-RU" sz="1624">
                <a:solidFill>
                  <a:srgbClr val="FFFFFF"/>
                </a:solidFill>
              </a:rPr>
              <a:t>ChromaDB</a:t>
            </a:r>
            <a:endParaRPr b="1" sz="1624">
              <a:solidFill>
                <a:srgbClr val="FFFFFF"/>
              </a:solidFill>
            </a:endParaRPr>
          </a:p>
        </p:txBody>
      </p:sp>
      <p:sp>
        <p:nvSpPr>
          <p:cNvPr id="127" name="Google Shape;127;p3"/>
          <p:cNvSpPr/>
          <p:nvPr/>
        </p:nvSpPr>
        <p:spPr>
          <a:xfrm>
            <a:off x="9449218" y="4627484"/>
            <a:ext cx="2234700" cy="7908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12900">
            <a:solidFill>
              <a:srgbClr val="0B57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123750" lIns="123750" spcFirstLastPara="1" rIns="123750" wrap="square" tIns="12375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ru-RU" sz="1489">
                <a:solidFill>
                  <a:srgbClr val="FFFFFF"/>
                </a:solidFill>
              </a:rPr>
              <a:t>Bm25InMemory</a:t>
            </a:r>
            <a:endParaRPr b="1" sz="1489">
              <a:solidFill>
                <a:srgbClr val="FFFFFF"/>
              </a:solidFill>
            </a:endParaRPr>
          </a:p>
        </p:txBody>
      </p:sp>
      <p:cxnSp>
        <p:nvCxnSpPr>
          <p:cNvPr id="128" name="Google Shape;128;p3"/>
          <p:cNvCxnSpPr>
            <a:stCxn id="120" idx="3"/>
            <a:endCxn id="121" idx="1"/>
          </p:cNvCxnSpPr>
          <p:nvPr/>
        </p:nvCxnSpPr>
        <p:spPr>
          <a:xfrm flipH="1" rot="10800000">
            <a:off x="2469500" y="1894000"/>
            <a:ext cx="447000" cy="1272300"/>
          </a:xfrm>
          <a:prstGeom prst="bentConnector3">
            <a:avLst>
              <a:gd fmla="val 49985" name="adj1"/>
            </a:avLst>
          </a:prstGeom>
          <a:noFill/>
          <a:ln cap="flat" cmpd="sng" w="25800">
            <a:solidFill>
              <a:srgbClr val="0B57D0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129" name="Google Shape;129;p3"/>
          <p:cNvCxnSpPr>
            <a:stCxn id="120" idx="3"/>
            <a:endCxn id="122" idx="1"/>
          </p:cNvCxnSpPr>
          <p:nvPr/>
        </p:nvCxnSpPr>
        <p:spPr>
          <a:xfrm>
            <a:off x="2469500" y="3166300"/>
            <a:ext cx="447000" cy="618900"/>
          </a:xfrm>
          <a:prstGeom prst="straightConnector1">
            <a:avLst/>
          </a:prstGeom>
          <a:noFill/>
          <a:ln cap="flat" cmpd="sng" w="25800">
            <a:solidFill>
              <a:srgbClr val="0B57D0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130" name="Google Shape;130;p3"/>
          <p:cNvCxnSpPr>
            <a:stCxn id="122" idx="3"/>
            <a:endCxn id="123" idx="1"/>
          </p:cNvCxnSpPr>
          <p:nvPr/>
        </p:nvCxnSpPr>
        <p:spPr>
          <a:xfrm>
            <a:off x="4773084" y="3785084"/>
            <a:ext cx="412500" cy="0"/>
          </a:xfrm>
          <a:prstGeom prst="straightConnector1">
            <a:avLst/>
          </a:prstGeom>
          <a:noFill/>
          <a:ln cap="flat" cmpd="sng" w="25800">
            <a:solidFill>
              <a:srgbClr val="0B57D0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131" name="Google Shape;131;p3"/>
          <p:cNvCxnSpPr>
            <a:stCxn id="123" idx="3"/>
            <a:endCxn id="125" idx="1"/>
          </p:cNvCxnSpPr>
          <p:nvPr/>
        </p:nvCxnSpPr>
        <p:spPr>
          <a:xfrm>
            <a:off x="7111084" y="3785084"/>
            <a:ext cx="412800" cy="0"/>
          </a:xfrm>
          <a:prstGeom prst="straightConnector1">
            <a:avLst/>
          </a:prstGeom>
          <a:noFill/>
          <a:ln cap="flat" cmpd="sng" w="25800">
            <a:solidFill>
              <a:srgbClr val="0B57D0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132" name="Google Shape;132;p3"/>
          <p:cNvCxnSpPr>
            <a:stCxn id="124" idx="3"/>
            <a:endCxn id="125" idx="1"/>
          </p:cNvCxnSpPr>
          <p:nvPr/>
        </p:nvCxnSpPr>
        <p:spPr>
          <a:xfrm flipH="1" rot="10800000">
            <a:off x="7111084" y="3784984"/>
            <a:ext cx="412800" cy="1444200"/>
          </a:xfrm>
          <a:prstGeom prst="bentConnector3">
            <a:avLst>
              <a:gd fmla="val 50016" name="adj1"/>
            </a:avLst>
          </a:prstGeom>
          <a:noFill/>
          <a:ln cap="flat" cmpd="sng" w="25800">
            <a:solidFill>
              <a:srgbClr val="0B57D0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133" name="Google Shape;133;p3"/>
          <p:cNvCxnSpPr>
            <a:stCxn id="125" idx="3"/>
            <a:endCxn id="126" idx="1"/>
          </p:cNvCxnSpPr>
          <p:nvPr/>
        </p:nvCxnSpPr>
        <p:spPr>
          <a:xfrm flipH="1" rot="10800000">
            <a:off x="9036351" y="2100284"/>
            <a:ext cx="412800" cy="1684800"/>
          </a:xfrm>
          <a:prstGeom prst="bentConnector3">
            <a:avLst>
              <a:gd fmla="val 50016" name="adj1"/>
            </a:avLst>
          </a:prstGeom>
          <a:noFill/>
          <a:ln cap="flat" cmpd="sng" w="25800">
            <a:solidFill>
              <a:srgbClr val="0B57D0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134" name="Google Shape;134;p3"/>
          <p:cNvCxnSpPr>
            <a:stCxn id="125" idx="3"/>
            <a:endCxn id="127" idx="1"/>
          </p:cNvCxnSpPr>
          <p:nvPr/>
        </p:nvCxnSpPr>
        <p:spPr>
          <a:xfrm>
            <a:off x="9036351" y="3785084"/>
            <a:ext cx="412800" cy="1237800"/>
          </a:xfrm>
          <a:prstGeom prst="bentConnector3">
            <a:avLst>
              <a:gd fmla="val 50016" name="adj1"/>
            </a:avLst>
          </a:prstGeom>
          <a:noFill/>
          <a:ln cap="flat" cmpd="sng" w="25800">
            <a:solidFill>
              <a:srgbClr val="0B57D0"/>
            </a:solidFill>
            <a:prstDash val="solid"/>
            <a:round/>
            <a:headEnd len="med" w="med" type="none"/>
            <a:tailEnd len="med" w="med" type="triangle"/>
          </a:ln>
        </p:spPr>
      </p:cxn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4"/>
          <p:cNvSpPr txBox="1"/>
          <p:nvPr/>
        </p:nvSpPr>
        <p:spPr>
          <a:xfrm>
            <a:off x="609600" y="355600"/>
            <a:ext cx="10972800" cy="46166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ru-RU" sz="2400">
                <a:solidFill>
                  <a:srgbClr val="242120"/>
                </a:solidFill>
                <a:latin typeface="Arial"/>
                <a:ea typeface="Arial"/>
                <a:cs typeface="Arial"/>
                <a:sym typeface="Arial"/>
              </a:rPr>
              <a:t>Поиск: два индекса и RRF</a:t>
            </a:r>
            <a:endParaRPr b="1" sz="2400">
              <a:solidFill>
                <a:srgbClr val="24212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0" name="Google Shape;140;p4"/>
          <p:cNvSpPr txBox="1"/>
          <p:nvPr/>
        </p:nvSpPr>
        <p:spPr>
          <a:xfrm>
            <a:off x="609600" y="863600"/>
            <a:ext cx="10972800" cy="27699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>
                <a:solidFill>
                  <a:srgbClr val="464744"/>
                </a:solidFill>
                <a:latin typeface="Arial"/>
                <a:ea typeface="Arial"/>
                <a:cs typeface="Arial"/>
                <a:sym typeface="Arial"/>
              </a:rPr>
              <a:t>CLI поиска нет. HybridSearchService — внутренний API для Semantic Kernel.</a:t>
            </a:r>
            <a:endParaRPr/>
          </a:p>
        </p:txBody>
      </p:sp>
      <p:sp>
        <p:nvSpPr>
          <p:cNvPr id="141" name="Google Shape;141;p4"/>
          <p:cNvSpPr/>
          <p:nvPr/>
        </p:nvSpPr>
        <p:spPr>
          <a:xfrm>
            <a:off x="609600" y="1651000"/>
            <a:ext cx="2082800" cy="1016000"/>
          </a:xfrm>
          <a:prstGeom prst="roundRect">
            <a:avLst>
              <a:gd fmla="val 16667" name="adj"/>
            </a:avLst>
          </a:prstGeom>
          <a:solidFill>
            <a:srgbClr val="D0570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4"/>
          <p:cNvSpPr txBox="1"/>
          <p:nvPr/>
        </p:nvSpPr>
        <p:spPr>
          <a:xfrm>
            <a:off x="609600" y="1879600"/>
            <a:ext cx="2082800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ru-RU" sz="14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Запрос</a:t>
            </a:r>
            <a:endParaRPr b="1" sz="1400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3" name="Google Shape;143;p4"/>
          <p:cNvSpPr/>
          <p:nvPr/>
        </p:nvSpPr>
        <p:spPr>
          <a:xfrm>
            <a:off x="2895600" y="1651000"/>
            <a:ext cx="2082800" cy="1016000"/>
          </a:xfrm>
          <a:prstGeom prst="roundRect">
            <a:avLst>
              <a:gd fmla="val 16667" name="adj"/>
            </a:avLst>
          </a:prstGeom>
          <a:solidFill>
            <a:srgbClr val="F4F3F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4" name="Google Shape;144;p4"/>
          <p:cNvSpPr txBox="1"/>
          <p:nvPr/>
        </p:nvSpPr>
        <p:spPr>
          <a:xfrm>
            <a:off x="2895600" y="1879600"/>
            <a:ext cx="2082800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ru-RU" sz="1400">
                <a:solidFill>
                  <a:srgbClr val="242120"/>
                </a:solidFill>
                <a:latin typeface="Arial"/>
                <a:ea typeface="Arial"/>
                <a:cs typeface="Arial"/>
                <a:sym typeface="Arial"/>
              </a:rPr>
              <a:t>query: + вектор</a:t>
            </a:r>
            <a:endParaRPr b="1" sz="1400">
              <a:solidFill>
                <a:srgbClr val="24212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5" name="Google Shape;145;p4"/>
          <p:cNvSpPr/>
          <p:nvPr/>
        </p:nvSpPr>
        <p:spPr>
          <a:xfrm>
            <a:off x="5181600" y="1651000"/>
            <a:ext cx="2082800" cy="1016000"/>
          </a:xfrm>
          <a:prstGeom prst="roundRect">
            <a:avLst>
              <a:gd fmla="val 16667" name="adj"/>
            </a:avLst>
          </a:prstGeom>
          <a:solidFill>
            <a:srgbClr val="F4F3F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6" name="Google Shape;146;p4"/>
          <p:cNvSpPr txBox="1"/>
          <p:nvPr/>
        </p:nvSpPr>
        <p:spPr>
          <a:xfrm>
            <a:off x="5181600" y="1879600"/>
            <a:ext cx="2082800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ru-RU" sz="1400">
                <a:solidFill>
                  <a:srgbClr val="242120"/>
                </a:solidFill>
                <a:latin typeface="Arial"/>
                <a:ea typeface="Arial"/>
                <a:cs typeface="Arial"/>
                <a:sym typeface="Arial"/>
              </a:rPr>
              <a:t>ChromaDB</a:t>
            </a:r>
            <a:endParaRPr/>
          </a:p>
        </p:txBody>
      </p:sp>
      <p:sp>
        <p:nvSpPr>
          <p:cNvPr id="147" name="Google Shape;147;p4"/>
          <p:cNvSpPr/>
          <p:nvPr/>
        </p:nvSpPr>
        <p:spPr>
          <a:xfrm>
            <a:off x="7467600" y="1651000"/>
            <a:ext cx="2082800" cy="1016000"/>
          </a:xfrm>
          <a:prstGeom prst="roundRect">
            <a:avLst>
              <a:gd fmla="val 16667" name="adj"/>
            </a:avLst>
          </a:prstGeom>
          <a:solidFill>
            <a:srgbClr val="D0570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8" name="Google Shape;148;p4"/>
          <p:cNvSpPr txBox="1"/>
          <p:nvPr/>
        </p:nvSpPr>
        <p:spPr>
          <a:xfrm>
            <a:off x="7467600" y="1879600"/>
            <a:ext cx="2082800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ru-RU" sz="14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RRF</a:t>
            </a:r>
            <a:endParaRPr/>
          </a:p>
        </p:txBody>
      </p:sp>
      <p:sp>
        <p:nvSpPr>
          <p:cNvPr id="149" name="Google Shape;149;p4"/>
          <p:cNvSpPr/>
          <p:nvPr/>
        </p:nvSpPr>
        <p:spPr>
          <a:xfrm>
            <a:off x="9753600" y="1651000"/>
            <a:ext cx="2082800" cy="1016000"/>
          </a:xfrm>
          <a:prstGeom prst="roundRect">
            <a:avLst>
              <a:gd fmla="val 16667" name="adj"/>
            </a:avLst>
          </a:prstGeom>
          <a:solidFill>
            <a:srgbClr val="D0570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0" name="Google Shape;150;p4"/>
          <p:cNvSpPr txBox="1"/>
          <p:nvPr/>
        </p:nvSpPr>
        <p:spPr>
          <a:xfrm>
            <a:off x="9753600" y="1879600"/>
            <a:ext cx="2082800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ru-RU" sz="14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Чанки</a:t>
            </a:r>
            <a:endParaRPr b="1" sz="1400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1" name="Google Shape;151;p4"/>
          <p:cNvSpPr/>
          <p:nvPr/>
        </p:nvSpPr>
        <p:spPr>
          <a:xfrm>
            <a:off x="2895600" y="3048000"/>
            <a:ext cx="6350000" cy="1016000"/>
          </a:xfrm>
          <a:prstGeom prst="roundRect">
            <a:avLst>
              <a:gd fmla="val 16667" name="adj"/>
            </a:avLst>
          </a:prstGeom>
          <a:solidFill>
            <a:srgbClr val="F4F3F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2" name="Google Shape;152;p4"/>
          <p:cNvSpPr txBox="1"/>
          <p:nvPr/>
        </p:nvSpPr>
        <p:spPr>
          <a:xfrm>
            <a:off x="3048000" y="3302000"/>
            <a:ext cx="6045200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>
                <a:solidFill>
                  <a:srgbClr val="242120"/>
                </a:solidFill>
                <a:latin typeface="Arial"/>
                <a:ea typeface="Arial"/>
                <a:cs typeface="Arial"/>
                <a:sym typeface="Arial"/>
              </a:rPr>
              <a:t>тот же запрос → BM25 → RRF</a:t>
            </a:r>
            <a:endParaRPr sz="1600">
              <a:solidFill>
                <a:srgbClr val="24212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5"/>
          <p:cNvSpPr txBox="1"/>
          <p:nvPr/>
        </p:nvSpPr>
        <p:spPr>
          <a:xfrm>
            <a:off x="609600" y="355600"/>
            <a:ext cx="10972800" cy="46166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ru-RU" sz="2400">
                <a:solidFill>
                  <a:srgbClr val="242120"/>
                </a:solidFill>
                <a:latin typeface="Arial"/>
                <a:ea typeface="Arial"/>
                <a:cs typeface="Arial"/>
                <a:sym typeface="Arial"/>
              </a:rPr>
              <a:t>Команды индексатора</a:t>
            </a:r>
            <a:endParaRPr b="1" sz="2400">
              <a:solidFill>
                <a:srgbClr val="24212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8" name="Google Shape;158;p5"/>
          <p:cNvSpPr txBox="1"/>
          <p:nvPr/>
        </p:nvSpPr>
        <p:spPr>
          <a:xfrm>
            <a:off x="609600" y="863600"/>
            <a:ext cx="10972800" cy="27699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>
                <a:solidFill>
                  <a:srgbClr val="464744"/>
                </a:solidFill>
                <a:latin typeface="Arial"/>
                <a:ea typeface="Arial"/>
                <a:cs typeface="Arial"/>
                <a:sym typeface="Arial"/>
              </a:rPr>
              <a:t>Консол</a:t>
            </a:r>
            <a:r>
              <a:rPr lang="ru-RU" sz="1200">
                <a:solidFill>
                  <a:srgbClr val="464744"/>
                </a:solidFill>
              </a:rPr>
              <a:t>ьное приложение </a:t>
            </a:r>
            <a:r>
              <a:rPr lang="ru-RU" sz="1200">
                <a:solidFill>
                  <a:srgbClr val="464744"/>
                </a:solidFill>
                <a:latin typeface="Arial"/>
                <a:ea typeface="Arial"/>
                <a:cs typeface="Arial"/>
                <a:sym typeface="Arial"/>
              </a:rPr>
              <a:t>StarTrek.Indexer. Ко</a:t>
            </a:r>
            <a:r>
              <a:rPr lang="ru-RU" sz="1200">
                <a:solidFill>
                  <a:srgbClr val="464744"/>
                </a:solidFill>
              </a:rPr>
              <a:t>манды в индексаторе: 5 штук</a:t>
            </a:r>
            <a:endParaRPr sz="1200">
              <a:solidFill>
                <a:srgbClr val="464744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9" name="Google Shape;159;p5"/>
          <p:cNvSpPr/>
          <p:nvPr/>
        </p:nvSpPr>
        <p:spPr>
          <a:xfrm>
            <a:off x="609600" y="1397000"/>
            <a:ext cx="3556000" cy="2540000"/>
          </a:xfrm>
          <a:prstGeom prst="roundRect">
            <a:avLst>
              <a:gd fmla="val 16667" name="adj"/>
            </a:avLst>
          </a:prstGeom>
          <a:solidFill>
            <a:srgbClr val="D0570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0" name="Google Shape;160;p5"/>
          <p:cNvSpPr txBox="1"/>
          <p:nvPr/>
        </p:nvSpPr>
        <p:spPr>
          <a:xfrm>
            <a:off x="762000" y="1600200"/>
            <a:ext cx="3251200" cy="27699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  <a:endParaRPr/>
          </a:p>
        </p:txBody>
      </p:sp>
      <p:sp>
        <p:nvSpPr>
          <p:cNvPr id="161" name="Google Shape;161;p5"/>
          <p:cNvSpPr txBox="1"/>
          <p:nvPr/>
        </p:nvSpPr>
        <p:spPr>
          <a:xfrm>
            <a:off x="762000" y="2032000"/>
            <a:ext cx="3251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ru-RU"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analyze</a:t>
            </a:r>
            <a:endParaRPr/>
          </a:p>
        </p:txBody>
      </p:sp>
      <p:sp>
        <p:nvSpPr>
          <p:cNvPr id="162" name="Google Shape;162;p5"/>
          <p:cNvSpPr txBox="1"/>
          <p:nvPr/>
        </p:nvSpPr>
        <p:spPr>
          <a:xfrm>
            <a:off x="762000" y="2667000"/>
            <a:ext cx="3251200" cy="2923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отчёт, ничего не пишет</a:t>
            </a:r>
            <a:endParaRPr sz="1300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3" name="Google Shape;163;p5"/>
          <p:cNvSpPr/>
          <p:nvPr/>
        </p:nvSpPr>
        <p:spPr>
          <a:xfrm>
            <a:off x="4318000" y="1397000"/>
            <a:ext cx="3556000" cy="2540000"/>
          </a:xfrm>
          <a:prstGeom prst="roundRect">
            <a:avLst>
              <a:gd fmla="val 16667" name="adj"/>
            </a:avLst>
          </a:prstGeom>
          <a:solidFill>
            <a:srgbClr val="F4F3F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4" name="Google Shape;164;p5"/>
          <p:cNvSpPr txBox="1"/>
          <p:nvPr/>
        </p:nvSpPr>
        <p:spPr>
          <a:xfrm>
            <a:off x="4470400" y="1600200"/>
            <a:ext cx="3251200" cy="27699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>
                <a:solidFill>
                  <a:srgbClr val="242120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  <a:endParaRPr/>
          </a:p>
        </p:txBody>
      </p:sp>
      <p:sp>
        <p:nvSpPr>
          <p:cNvPr id="165" name="Google Shape;165;p5"/>
          <p:cNvSpPr txBox="1"/>
          <p:nvPr/>
        </p:nvSpPr>
        <p:spPr>
          <a:xfrm>
            <a:off x="4470400" y="2032000"/>
            <a:ext cx="3251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ru-RU" sz="1800">
                <a:solidFill>
                  <a:srgbClr val="242120"/>
                </a:solidFill>
                <a:latin typeface="Arial"/>
                <a:ea typeface="Arial"/>
                <a:cs typeface="Arial"/>
                <a:sym typeface="Arial"/>
              </a:rPr>
              <a:t>chunk</a:t>
            </a:r>
            <a:endParaRPr/>
          </a:p>
        </p:txBody>
      </p:sp>
      <p:sp>
        <p:nvSpPr>
          <p:cNvPr id="166" name="Google Shape;166;p5"/>
          <p:cNvSpPr txBox="1"/>
          <p:nvPr/>
        </p:nvSpPr>
        <p:spPr>
          <a:xfrm>
            <a:off x="4470400" y="2667000"/>
            <a:ext cx="3251200" cy="2923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>
                <a:solidFill>
                  <a:srgbClr val="242120"/>
                </a:solidFill>
                <a:latin typeface="Arial"/>
                <a:ea typeface="Arial"/>
                <a:cs typeface="Arial"/>
                <a:sym typeface="Arial"/>
              </a:rPr>
              <a:t>JSON в Data/staging</a:t>
            </a:r>
            <a:endParaRPr/>
          </a:p>
        </p:txBody>
      </p:sp>
      <p:sp>
        <p:nvSpPr>
          <p:cNvPr id="167" name="Google Shape;167;p5"/>
          <p:cNvSpPr/>
          <p:nvPr/>
        </p:nvSpPr>
        <p:spPr>
          <a:xfrm>
            <a:off x="8026400" y="1397000"/>
            <a:ext cx="3556000" cy="2540000"/>
          </a:xfrm>
          <a:prstGeom prst="roundRect">
            <a:avLst>
              <a:gd fmla="val 16667" name="adj"/>
            </a:avLst>
          </a:prstGeom>
          <a:solidFill>
            <a:srgbClr val="D0570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5"/>
          <p:cNvSpPr txBox="1"/>
          <p:nvPr/>
        </p:nvSpPr>
        <p:spPr>
          <a:xfrm>
            <a:off x="8178800" y="1600200"/>
            <a:ext cx="3251200" cy="27699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  <a:endParaRPr/>
          </a:p>
        </p:txBody>
      </p:sp>
      <p:sp>
        <p:nvSpPr>
          <p:cNvPr id="169" name="Google Shape;169;p5"/>
          <p:cNvSpPr txBox="1"/>
          <p:nvPr/>
        </p:nvSpPr>
        <p:spPr>
          <a:xfrm>
            <a:off x="8178800" y="2032000"/>
            <a:ext cx="3251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ru-RU"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embed</a:t>
            </a:r>
            <a:endParaRPr/>
          </a:p>
        </p:txBody>
      </p:sp>
      <p:sp>
        <p:nvSpPr>
          <p:cNvPr id="170" name="Google Shape;170;p5"/>
          <p:cNvSpPr txBox="1"/>
          <p:nvPr/>
        </p:nvSpPr>
        <p:spPr>
          <a:xfrm>
            <a:off x="8178800" y="2667000"/>
            <a:ext cx="3251200" cy="2923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векторы → два индекса</a:t>
            </a:r>
            <a:endParaRPr sz="1300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1" name="Google Shape;171;p5"/>
          <p:cNvSpPr/>
          <p:nvPr/>
        </p:nvSpPr>
        <p:spPr>
          <a:xfrm>
            <a:off x="609600" y="4318000"/>
            <a:ext cx="5334000" cy="2032000"/>
          </a:xfrm>
          <a:prstGeom prst="roundRect">
            <a:avLst>
              <a:gd fmla="val 16667" name="adj"/>
            </a:avLst>
          </a:prstGeom>
          <a:solidFill>
            <a:srgbClr val="F4F3F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2" name="Google Shape;172;p5"/>
          <p:cNvSpPr txBox="1"/>
          <p:nvPr/>
        </p:nvSpPr>
        <p:spPr>
          <a:xfrm>
            <a:off x="812800" y="4521200"/>
            <a:ext cx="4927600" cy="27699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>
                <a:solidFill>
                  <a:srgbClr val="464744"/>
                </a:solidFill>
                <a:latin typeface="Arial"/>
                <a:ea typeface="Arial"/>
                <a:cs typeface="Arial"/>
                <a:sym typeface="Arial"/>
              </a:rPr>
              <a:t>без файлов</a:t>
            </a:r>
            <a:endParaRPr sz="1200">
              <a:solidFill>
                <a:srgbClr val="464744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3" name="Google Shape;173;p5"/>
          <p:cNvSpPr txBox="1"/>
          <p:nvPr/>
        </p:nvSpPr>
        <p:spPr>
          <a:xfrm>
            <a:off x="812800" y="4953000"/>
            <a:ext cx="49276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ru-RU" sz="1800">
                <a:solidFill>
                  <a:srgbClr val="242120"/>
                </a:solidFill>
                <a:latin typeface="Arial"/>
                <a:ea typeface="Arial"/>
                <a:cs typeface="Arial"/>
                <a:sym typeface="Arial"/>
              </a:rPr>
              <a:t>health-check</a:t>
            </a:r>
            <a:endParaRPr/>
          </a:p>
        </p:txBody>
      </p:sp>
      <p:sp>
        <p:nvSpPr>
          <p:cNvPr id="174" name="Google Shape;174;p5"/>
          <p:cNvSpPr/>
          <p:nvPr/>
        </p:nvSpPr>
        <p:spPr>
          <a:xfrm>
            <a:off x="6248400" y="4318000"/>
            <a:ext cx="5334000" cy="2032000"/>
          </a:xfrm>
          <a:prstGeom prst="roundRect">
            <a:avLst>
              <a:gd fmla="val 16667" name="adj"/>
            </a:avLst>
          </a:prstGeom>
          <a:solidFill>
            <a:srgbClr val="F4F3F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5" name="Google Shape;175;p5"/>
          <p:cNvSpPr txBox="1"/>
          <p:nvPr/>
        </p:nvSpPr>
        <p:spPr>
          <a:xfrm>
            <a:off x="6451600" y="4521200"/>
            <a:ext cx="4927600" cy="27699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>
                <a:solidFill>
                  <a:srgbClr val="464744"/>
                </a:solidFill>
                <a:latin typeface="Arial"/>
                <a:ea typeface="Arial"/>
                <a:cs typeface="Arial"/>
                <a:sym typeface="Arial"/>
              </a:rPr>
              <a:t>справка</a:t>
            </a:r>
            <a:endParaRPr sz="1200">
              <a:solidFill>
                <a:srgbClr val="464744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6" name="Google Shape;176;p5"/>
          <p:cNvSpPr txBox="1"/>
          <p:nvPr/>
        </p:nvSpPr>
        <p:spPr>
          <a:xfrm>
            <a:off x="6451600" y="4953000"/>
            <a:ext cx="49276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ru-RU" sz="1800">
                <a:solidFill>
                  <a:srgbClr val="242120"/>
                </a:solidFill>
                <a:latin typeface="Arial"/>
                <a:ea typeface="Arial"/>
                <a:cs typeface="Arial"/>
                <a:sym typeface="Arial"/>
              </a:rPr>
              <a:t>help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8"/>
          <p:cNvSpPr txBox="1"/>
          <p:nvPr/>
        </p:nvSpPr>
        <p:spPr>
          <a:xfrm>
            <a:off x="508000" y="254000"/>
            <a:ext cx="1117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ru-RU" sz="2200">
                <a:solidFill>
                  <a:srgbClr val="242120"/>
                </a:solidFill>
                <a:latin typeface="Arial"/>
                <a:ea typeface="Arial"/>
                <a:cs typeface="Arial"/>
                <a:sym typeface="Arial"/>
              </a:rPr>
              <a:t>Что такое чанк и как считаются векторы</a:t>
            </a:r>
            <a:endParaRPr b="1" sz="2200">
              <a:solidFill>
                <a:srgbClr val="24212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2" name="Google Shape;182;p8"/>
          <p:cNvSpPr/>
          <p:nvPr/>
        </p:nvSpPr>
        <p:spPr>
          <a:xfrm>
            <a:off x="508000" y="889000"/>
            <a:ext cx="2667000" cy="889000"/>
          </a:xfrm>
          <a:prstGeom prst="roundRect">
            <a:avLst>
              <a:gd fmla="val 16667" name="adj"/>
            </a:avLst>
          </a:prstGeom>
          <a:solidFill>
            <a:srgbClr val="D0570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3" name="Google Shape;183;p8"/>
          <p:cNvSpPr txBox="1"/>
          <p:nvPr/>
        </p:nvSpPr>
        <p:spPr>
          <a:xfrm>
            <a:off x="508000" y="1092200"/>
            <a:ext cx="2667000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ru-RU" sz="14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SourceFiles</a:t>
            </a:r>
            <a:endParaRPr/>
          </a:p>
        </p:txBody>
      </p:sp>
      <p:sp>
        <p:nvSpPr>
          <p:cNvPr id="184" name="Google Shape;184;p8"/>
          <p:cNvSpPr/>
          <p:nvPr/>
        </p:nvSpPr>
        <p:spPr>
          <a:xfrm>
            <a:off x="3429000" y="889000"/>
            <a:ext cx="2667000" cy="889000"/>
          </a:xfrm>
          <a:prstGeom prst="roundRect">
            <a:avLst>
              <a:gd fmla="val 16667" name="adj"/>
            </a:avLst>
          </a:prstGeom>
          <a:solidFill>
            <a:srgbClr val="F4F3F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5" name="Google Shape;185;p8"/>
          <p:cNvSpPr txBox="1"/>
          <p:nvPr/>
        </p:nvSpPr>
        <p:spPr>
          <a:xfrm>
            <a:off x="3429000" y="1092200"/>
            <a:ext cx="2667000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ru-RU" sz="1400">
                <a:solidFill>
                  <a:srgbClr val="242120"/>
                </a:solidFill>
                <a:latin typeface="Arial"/>
                <a:ea typeface="Arial"/>
                <a:cs typeface="Arial"/>
                <a:sym typeface="Arial"/>
              </a:rPr>
              <a:t>chunk</a:t>
            </a:r>
            <a:endParaRPr/>
          </a:p>
        </p:txBody>
      </p:sp>
      <p:sp>
        <p:nvSpPr>
          <p:cNvPr id="186" name="Google Shape;186;p8"/>
          <p:cNvSpPr/>
          <p:nvPr/>
        </p:nvSpPr>
        <p:spPr>
          <a:xfrm>
            <a:off x="6350000" y="889000"/>
            <a:ext cx="2667000" cy="889000"/>
          </a:xfrm>
          <a:prstGeom prst="roundRect">
            <a:avLst>
              <a:gd fmla="val 16667" name="adj"/>
            </a:avLst>
          </a:prstGeom>
          <a:solidFill>
            <a:srgbClr val="F4F3F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7" name="Google Shape;187;p8"/>
          <p:cNvSpPr txBox="1"/>
          <p:nvPr/>
        </p:nvSpPr>
        <p:spPr>
          <a:xfrm>
            <a:off x="6350000" y="1092200"/>
            <a:ext cx="2667000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ru-RU" sz="1400">
                <a:solidFill>
                  <a:srgbClr val="242120"/>
                </a:solidFill>
                <a:latin typeface="Arial"/>
                <a:ea typeface="Arial"/>
                <a:cs typeface="Arial"/>
                <a:sym typeface="Arial"/>
              </a:rPr>
              <a:t>embed + ONNX</a:t>
            </a:r>
            <a:endParaRPr/>
          </a:p>
        </p:txBody>
      </p:sp>
      <p:sp>
        <p:nvSpPr>
          <p:cNvPr id="188" name="Google Shape;188;p8"/>
          <p:cNvSpPr/>
          <p:nvPr/>
        </p:nvSpPr>
        <p:spPr>
          <a:xfrm>
            <a:off x="9271000" y="889000"/>
            <a:ext cx="2667000" cy="889000"/>
          </a:xfrm>
          <a:prstGeom prst="roundRect">
            <a:avLst>
              <a:gd fmla="val 16667" name="adj"/>
            </a:avLst>
          </a:prstGeom>
          <a:solidFill>
            <a:srgbClr val="D0570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9" name="Google Shape;189;p8"/>
          <p:cNvSpPr txBox="1"/>
          <p:nvPr/>
        </p:nvSpPr>
        <p:spPr>
          <a:xfrm>
            <a:off x="9271000" y="1092200"/>
            <a:ext cx="2667000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ru-RU" sz="14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ChromaDB + BM25</a:t>
            </a:r>
            <a:endParaRPr/>
          </a:p>
        </p:txBody>
      </p:sp>
      <p:sp>
        <p:nvSpPr>
          <p:cNvPr id="190" name="Google Shape;190;p8"/>
          <p:cNvSpPr/>
          <p:nvPr/>
        </p:nvSpPr>
        <p:spPr>
          <a:xfrm>
            <a:off x="508000" y="2032000"/>
            <a:ext cx="3683000" cy="4318000"/>
          </a:xfrm>
          <a:prstGeom prst="roundRect">
            <a:avLst>
              <a:gd fmla="val 16667" name="adj"/>
            </a:avLst>
          </a:prstGeom>
          <a:solidFill>
            <a:srgbClr val="F4F3F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1" name="Google Shape;191;p8"/>
          <p:cNvSpPr txBox="1"/>
          <p:nvPr/>
        </p:nvSpPr>
        <p:spPr>
          <a:xfrm>
            <a:off x="685800" y="2235200"/>
            <a:ext cx="3327400" cy="27699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>
                <a:solidFill>
                  <a:srgbClr val="464744"/>
                </a:solidFill>
                <a:latin typeface="Arial"/>
                <a:ea typeface="Arial"/>
                <a:cs typeface="Arial"/>
                <a:sym typeface="Arial"/>
              </a:rPr>
              <a:t>Чанк</a:t>
            </a:r>
            <a:endParaRPr sz="1200">
              <a:solidFill>
                <a:srgbClr val="464744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8"/>
          <p:cNvSpPr txBox="1"/>
          <p:nvPr/>
        </p:nvSpPr>
        <p:spPr>
          <a:xfrm>
            <a:off x="685800" y="2667000"/>
            <a:ext cx="3327400" cy="73866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>
                <a:solidFill>
                  <a:srgbClr val="242120"/>
                </a:solidFill>
                <a:latin typeface="Arial"/>
                <a:ea typeface="Arial"/>
                <a:cs typeface="Arial"/>
                <a:sym typeface="Arial"/>
              </a:rPr>
              <a:t>Кусок текста по заголовку #. Длиннее 480 токенов — режем. Короче 80 — не склеиваем.</a:t>
            </a:r>
            <a:endParaRPr sz="1400">
              <a:solidFill>
                <a:srgbClr val="24212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3" name="Google Shape;193;p8"/>
          <p:cNvSpPr/>
          <p:nvPr/>
        </p:nvSpPr>
        <p:spPr>
          <a:xfrm>
            <a:off x="4381500" y="2032000"/>
            <a:ext cx="3683000" cy="4318000"/>
          </a:xfrm>
          <a:prstGeom prst="roundRect">
            <a:avLst>
              <a:gd fmla="val 16667" name="adj"/>
            </a:avLst>
          </a:prstGeom>
          <a:solidFill>
            <a:srgbClr val="F4F3F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4" name="Google Shape;194;p8"/>
          <p:cNvSpPr txBox="1"/>
          <p:nvPr/>
        </p:nvSpPr>
        <p:spPr>
          <a:xfrm>
            <a:off x="4559300" y="2235200"/>
            <a:ext cx="3327400" cy="27699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>
                <a:solidFill>
                  <a:srgbClr val="464744"/>
                </a:solidFill>
                <a:latin typeface="Arial"/>
                <a:ea typeface="Arial"/>
                <a:cs typeface="Arial"/>
                <a:sym typeface="Arial"/>
              </a:rPr>
              <a:t>Разработка</a:t>
            </a:r>
            <a:endParaRPr sz="1200">
              <a:solidFill>
                <a:srgbClr val="464744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8"/>
          <p:cNvSpPr txBox="1"/>
          <p:nvPr/>
        </p:nvSpPr>
        <p:spPr>
          <a:xfrm>
            <a:off x="4559300" y="2667000"/>
            <a:ext cx="3327400" cy="5232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>
                <a:solidFill>
                  <a:srgbClr val="242120"/>
                </a:solidFill>
                <a:latin typeface="Arial"/>
                <a:ea typeface="Arial"/>
                <a:cs typeface="Arial"/>
                <a:sym typeface="Arial"/>
              </a:rPr>
              <a:t>Проект разработан в IDE Cursor.</a:t>
            </a:r>
            <a:endParaRPr sz="1400">
              <a:solidFill>
                <a:srgbClr val="24212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8"/>
          <p:cNvSpPr/>
          <p:nvPr/>
        </p:nvSpPr>
        <p:spPr>
          <a:xfrm>
            <a:off x="8255000" y="2032000"/>
            <a:ext cx="3429000" cy="4318000"/>
          </a:xfrm>
          <a:prstGeom prst="roundRect">
            <a:avLst>
              <a:gd fmla="val 16667" name="adj"/>
            </a:avLst>
          </a:prstGeom>
          <a:solidFill>
            <a:srgbClr val="F4F3F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7" name="Google Shape;197;p8"/>
          <p:cNvSpPr txBox="1"/>
          <p:nvPr/>
        </p:nvSpPr>
        <p:spPr>
          <a:xfrm>
            <a:off x="8432800" y="2235200"/>
            <a:ext cx="3073400" cy="27699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>
                <a:solidFill>
                  <a:srgbClr val="464744"/>
                </a:solidFill>
                <a:latin typeface="Arial"/>
                <a:ea typeface="Arial"/>
                <a:cs typeface="Arial"/>
                <a:sym typeface="Arial"/>
              </a:rPr>
              <a:t>Запуск</a:t>
            </a:r>
            <a:endParaRPr sz="1200">
              <a:solidFill>
                <a:srgbClr val="464744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8" name="Google Shape;198;p8"/>
          <p:cNvSpPr txBox="1"/>
          <p:nvPr/>
        </p:nvSpPr>
        <p:spPr>
          <a:xfrm>
            <a:off x="8432800" y="2667000"/>
            <a:ext cx="3073400" cy="73866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>
                <a:solidFill>
                  <a:srgbClr val="242120"/>
                </a:solidFill>
                <a:latin typeface="Arial"/>
                <a:ea typeface="Arial"/>
                <a:cs typeface="Arial"/>
                <a:sym typeface="Arial"/>
              </a:rPr>
              <a:t>Векторы считает локальный ONNX e5-small. Платный API эмбеддингов не вызывается.</a:t>
            </a:r>
            <a:endParaRPr sz="1400">
              <a:solidFill>
                <a:srgbClr val="24212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9"/>
          <p:cNvSpPr txBox="1"/>
          <p:nvPr/>
        </p:nvSpPr>
        <p:spPr>
          <a:xfrm>
            <a:off x="508000" y="254000"/>
            <a:ext cx="11176000" cy="46166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ru-RU" sz="2400">
                <a:solidFill>
                  <a:srgbClr val="242120"/>
                </a:solidFill>
                <a:latin typeface="Arial"/>
                <a:ea typeface="Arial"/>
                <a:cs typeface="Arial"/>
                <a:sym typeface="Arial"/>
              </a:rPr>
              <a:t>Как запустить</a:t>
            </a:r>
            <a:endParaRPr b="1" sz="2400">
              <a:solidFill>
                <a:srgbClr val="24212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4" name="Google Shape;204;p9"/>
          <p:cNvSpPr/>
          <p:nvPr/>
        </p:nvSpPr>
        <p:spPr>
          <a:xfrm>
            <a:off x="508000" y="889000"/>
            <a:ext cx="2667000" cy="889000"/>
          </a:xfrm>
          <a:prstGeom prst="roundRect">
            <a:avLst>
              <a:gd fmla="val 16667" name="adj"/>
            </a:avLst>
          </a:prstGeom>
          <a:solidFill>
            <a:srgbClr val="D0570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9"/>
          <p:cNvSpPr txBox="1"/>
          <p:nvPr/>
        </p:nvSpPr>
        <p:spPr>
          <a:xfrm>
            <a:off x="508000" y="1092200"/>
            <a:ext cx="2667000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ru-RU" sz="14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Docker Compose</a:t>
            </a:r>
            <a:endParaRPr/>
          </a:p>
        </p:txBody>
      </p:sp>
      <p:sp>
        <p:nvSpPr>
          <p:cNvPr id="206" name="Google Shape;206;p9"/>
          <p:cNvSpPr/>
          <p:nvPr/>
        </p:nvSpPr>
        <p:spPr>
          <a:xfrm>
            <a:off x="3429000" y="889000"/>
            <a:ext cx="2667000" cy="889000"/>
          </a:xfrm>
          <a:prstGeom prst="roundRect">
            <a:avLst>
              <a:gd fmla="val 16667" name="adj"/>
            </a:avLst>
          </a:prstGeom>
          <a:solidFill>
            <a:srgbClr val="F4F3F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7" name="Google Shape;207;p9"/>
          <p:cNvSpPr txBox="1"/>
          <p:nvPr/>
        </p:nvSpPr>
        <p:spPr>
          <a:xfrm>
            <a:off x="3429000" y="1092200"/>
            <a:ext cx="2667000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ru-RU" sz="1400">
                <a:solidFill>
                  <a:srgbClr val="242120"/>
                </a:solidFill>
                <a:latin typeface="Arial"/>
                <a:ea typeface="Arial"/>
                <a:cs typeface="Arial"/>
                <a:sym typeface="Arial"/>
              </a:rPr>
              <a:t>chromadb :8000</a:t>
            </a:r>
            <a:endParaRPr/>
          </a:p>
        </p:txBody>
      </p:sp>
      <p:sp>
        <p:nvSpPr>
          <p:cNvPr id="208" name="Google Shape;208;p9"/>
          <p:cNvSpPr/>
          <p:nvPr/>
        </p:nvSpPr>
        <p:spPr>
          <a:xfrm>
            <a:off x="6350000" y="889000"/>
            <a:ext cx="2667000" cy="889000"/>
          </a:xfrm>
          <a:prstGeom prst="roundRect">
            <a:avLst>
              <a:gd fmla="val 16667" name="adj"/>
            </a:avLst>
          </a:prstGeom>
          <a:solidFill>
            <a:srgbClr val="F4F3F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9" name="Google Shape;209;p9"/>
          <p:cNvSpPr txBox="1"/>
          <p:nvPr/>
        </p:nvSpPr>
        <p:spPr>
          <a:xfrm>
            <a:off x="6350000" y="1092200"/>
            <a:ext cx="2667000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ru-RU" sz="1400">
                <a:solidFill>
                  <a:srgbClr val="242120"/>
                </a:solidFill>
                <a:latin typeface="Arial"/>
                <a:ea typeface="Arial"/>
                <a:cs typeface="Arial"/>
                <a:sym typeface="Arial"/>
              </a:rPr>
              <a:t>indexer</a:t>
            </a:r>
            <a:endParaRPr/>
          </a:p>
        </p:txBody>
      </p:sp>
      <p:sp>
        <p:nvSpPr>
          <p:cNvPr id="210" name="Google Shape;210;p9"/>
          <p:cNvSpPr/>
          <p:nvPr/>
        </p:nvSpPr>
        <p:spPr>
          <a:xfrm>
            <a:off x="9271000" y="889000"/>
            <a:ext cx="2667000" cy="889000"/>
          </a:xfrm>
          <a:prstGeom prst="roundRect">
            <a:avLst>
              <a:gd fmla="val 16667" name="adj"/>
            </a:avLst>
          </a:prstGeom>
          <a:solidFill>
            <a:srgbClr val="D0570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1" name="Google Shape;211;p9"/>
          <p:cNvSpPr txBox="1"/>
          <p:nvPr/>
        </p:nvSpPr>
        <p:spPr>
          <a:xfrm>
            <a:off x="9271000" y="1092200"/>
            <a:ext cx="2667000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ru-RU" sz="14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команда</a:t>
            </a:r>
            <a:endParaRPr b="1" sz="1400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2" name="Google Shape;212;p9"/>
          <p:cNvSpPr/>
          <p:nvPr/>
        </p:nvSpPr>
        <p:spPr>
          <a:xfrm>
            <a:off x="508000" y="2032000"/>
            <a:ext cx="3683000" cy="4318000"/>
          </a:xfrm>
          <a:prstGeom prst="roundRect">
            <a:avLst>
              <a:gd fmla="val 16667" name="adj"/>
            </a:avLst>
          </a:prstGeom>
          <a:solidFill>
            <a:srgbClr val="F4F3F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9"/>
          <p:cNvSpPr txBox="1"/>
          <p:nvPr/>
        </p:nvSpPr>
        <p:spPr>
          <a:xfrm>
            <a:off x="685800" y="2235200"/>
            <a:ext cx="3327400" cy="27699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>
                <a:solidFill>
                  <a:srgbClr val="464744"/>
                </a:solidFill>
                <a:latin typeface="Arial"/>
                <a:ea typeface="Arial"/>
                <a:cs typeface="Arial"/>
                <a:sym typeface="Arial"/>
              </a:rPr>
              <a:t>Стек</a:t>
            </a:r>
            <a:endParaRPr sz="1200">
              <a:solidFill>
                <a:srgbClr val="464744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4" name="Google Shape;214;p9"/>
          <p:cNvSpPr txBox="1"/>
          <p:nvPr/>
        </p:nvSpPr>
        <p:spPr>
          <a:xfrm>
            <a:off x="685800" y="2921000"/>
            <a:ext cx="3327400" cy="5232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>
                <a:solidFill>
                  <a:srgbClr val="242120"/>
                </a:solidFill>
                <a:latin typeface="Arial"/>
                <a:ea typeface="Arial"/>
                <a:cs typeface="Arial"/>
                <a:sym typeface="Arial"/>
              </a:rPr>
              <a:t>C# / .NET 10 · ONNX Runtime · ChromaDB 1.5.9</a:t>
            </a:r>
            <a:endParaRPr/>
          </a:p>
        </p:txBody>
      </p:sp>
      <p:sp>
        <p:nvSpPr>
          <p:cNvPr id="215" name="Google Shape;215;p9"/>
          <p:cNvSpPr/>
          <p:nvPr/>
        </p:nvSpPr>
        <p:spPr>
          <a:xfrm>
            <a:off x="4381500" y="2032000"/>
            <a:ext cx="3683000" cy="4318000"/>
          </a:xfrm>
          <a:prstGeom prst="roundRect">
            <a:avLst>
              <a:gd fmla="val 16667" name="adj"/>
            </a:avLst>
          </a:prstGeom>
          <a:solidFill>
            <a:srgbClr val="F4F3F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6" name="Google Shape;216;p9"/>
          <p:cNvSpPr txBox="1"/>
          <p:nvPr/>
        </p:nvSpPr>
        <p:spPr>
          <a:xfrm>
            <a:off x="4559300" y="2235200"/>
            <a:ext cx="3327400" cy="27699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>
                <a:solidFill>
                  <a:srgbClr val="464744"/>
                </a:solidFill>
                <a:latin typeface="Arial"/>
                <a:ea typeface="Arial"/>
                <a:cs typeface="Arial"/>
                <a:sym typeface="Arial"/>
              </a:rPr>
              <a:t>Без контейнера индексатора</a:t>
            </a:r>
            <a:endParaRPr sz="1200">
              <a:solidFill>
                <a:srgbClr val="464744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7" name="Google Shape;217;p9"/>
          <p:cNvSpPr txBox="1"/>
          <p:nvPr/>
        </p:nvSpPr>
        <p:spPr>
          <a:xfrm>
            <a:off x="4559300" y="2921000"/>
            <a:ext cx="3327400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>
                <a:solidFill>
                  <a:srgbClr val="242120"/>
                </a:solidFill>
                <a:latin typeface="Arial"/>
                <a:ea typeface="Arial"/>
                <a:cs typeface="Arial"/>
                <a:sym typeface="Arial"/>
              </a:rPr>
              <a:t>dotnet run --project src/StarTrek.Indexer</a:t>
            </a:r>
            <a:endParaRPr/>
          </a:p>
        </p:txBody>
      </p:sp>
      <p:sp>
        <p:nvSpPr>
          <p:cNvPr id="218" name="Google Shape;218;p9"/>
          <p:cNvSpPr/>
          <p:nvPr/>
        </p:nvSpPr>
        <p:spPr>
          <a:xfrm>
            <a:off x="8255000" y="2032000"/>
            <a:ext cx="3429000" cy="4318000"/>
          </a:xfrm>
          <a:prstGeom prst="roundRect">
            <a:avLst>
              <a:gd fmla="val 16667" name="adj"/>
            </a:avLst>
          </a:prstGeom>
          <a:solidFill>
            <a:srgbClr val="F4F3F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9" name="Google Shape;219;p9"/>
          <p:cNvSpPr txBox="1"/>
          <p:nvPr/>
        </p:nvSpPr>
        <p:spPr>
          <a:xfrm>
            <a:off x="8432800" y="2235200"/>
            <a:ext cx="3073400" cy="27699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>
                <a:solidFill>
                  <a:srgbClr val="464744"/>
                </a:solidFill>
                <a:latin typeface="Arial"/>
                <a:ea typeface="Arial"/>
                <a:cs typeface="Arial"/>
                <a:sym typeface="Arial"/>
              </a:rPr>
              <a:t>Конфиг</a:t>
            </a:r>
            <a:endParaRPr sz="1200">
              <a:solidFill>
                <a:srgbClr val="464744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0" name="Google Shape;220;p9"/>
          <p:cNvSpPr txBox="1"/>
          <p:nvPr/>
        </p:nvSpPr>
        <p:spPr>
          <a:xfrm>
            <a:off x="8432800" y="2921000"/>
            <a:ext cx="3073400" cy="5232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>
                <a:solidFill>
                  <a:srgbClr val="242120"/>
                </a:solidFill>
                <a:latin typeface="Arial"/>
                <a:ea typeface="Arial"/>
                <a:cs typeface="Arial"/>
                <a:sym typeface="Arial"/>
              </a:rPr>
              <a:t>appsettings.json и STARTREK_* — пути, Chroma, чанки, BM25, RRF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10"/>
          <p:cNvSpPr txBox="1"/>
          <p:nvPr/>
        </p:nvSpPr>
        <p:spPr>
          <a:xfrm>
            <a:off x="762000" y="993400"/>
            <a:ext cx="10668000" cy="492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b="1" lang="ru-RU" sz="2000">
                <a:solidFill>
                  <a:srgbClr val="D0570B"/>
                </a:solidFill>
              </a:rPr>
              <a:t>MCP-инструменты</a:t>
            </a:r>
            <a:endParaRPr b="1" sz="2000">
              <a:solidFill>
                <a:srgbClr val="D0570B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6" name="Google Shape;226;p10"/>
          <p:cNvSpPr/>
          <p:nvPr/>
        </p:nvSpPr>
        <p:spPr>
          <a:xfrm>
            <a:off x="1088475" y="2929450"/>
            <a:ext cx="1422300" cy="584100"/>
          </a:xfrm>
          <a:prstGeom prst="roundRect">
            <a:avLst>
              <a:gd fmla="val 16667" name="adj"/>
            </a:avLst>
          </a:prstGeom>
          <a:solidFill>
            <a:srgbClr val="F1F3F4"/>
          </a:solidFill>
          <a:ln cap="flat" cmpd="sng" w="9525">
            <a:solidFill>
              <a:srgbClr val="F1F3F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ru-RU" sz="1200">
                <a:solidFill>
                  <a:srgbClr val="202124"/>
                </a:solidFill>
              </a:rPr>
              <a:t>Клиент Агент</a:t>
            </a:r>
            <a:endParaRPr b="1" sz="1200">
              <a:solidFill>
                <a:srgbClr val="202124"/>
              </a:solidFill>
            </a:endParaRPr>
          </a:p>
        </p:txBody>
      </p:sp>
      <p:sp>
        <p:nvSpPr>
          <p:cNvPr id="227" name="Google Shape;227;p10"/>
          <p:cNvSpPr/>
          <p:nvPr/>
        </p:nvSpPr>
        <p:spPr>
          <a:xfrm>
            <a:off x="3509850" y="2929450"/>
            <a:ext cx="1117500" cy="584100"/>
          </a:xfrm>
          <a:prstGeom prst="roundRect">
            <a:avLst>
              <a:gd fmla="val 0" name="adj"/>
            </a:avLst>
          </a:prstGeom>
          <a:solidFill>
            <a:schemeClr val="dk1"/>
          </a:solidFill>
          <a:ln cap="flat" cmpd="sng" w="9525">
            <a:solidFill>
              <a:srgbClr val="0B57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ru-RU" sz="1200">
                <a:solidFill>
                  <a:srgbClr val="FFFFFF"/>
                </a:solidFill>
              </a:rPr>
              <a:t>MCP сервер</a:t>
            </a:r>
            <a:endParaRPr b="1" sz="1200">
              <a:solidFill>
                <a:srgbClr val="FFFFFF"/>
              </a:solidFill>
            </a:endParaRPr>
          </a:p>
        </p:txBody>
      </p:sp>
      <p:sp>
        <p:nvSpPr>
          <p:cNvPr id="228" name="Google Shape;228;p10"/>
          <p:cNvSpPr/>
          <p:nvPr/>
        </p:nvSpPr>
        <p:spPr>
          <a:xfrm>
            <a:off x="7086600" y="2019275"/>
            <a:ext cx="2070600" cy="5841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9525">
            <a:solidFill>
              <a:srgbClr val="0B57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b="1" lang="ru-RU" sz="1300">
                <a:solidFill>
                  <a:schemeClr val="lt1"/>
                </a:solidFill>
                <a:latin typeface="Roboto Mono"/>
                <a:ea typeface="Roboto Mono"/>
                <a:cs typeface="Roboto Mono"/>
                <a:sym typeface="Roboto Mono"/>
              </a:rPr>
              <a:t>search_bm25</a:t>
            </a:r>
            <a:endParaRPr b="1">
              <a:solidFill>
                <a:srgbClr val="FFFFFF"/>
              </a:solidFill>
            </a:endParaRPr>
          </a:p>
        </p:txBody>
      </p:sp>
      <p:sp>
        <p:nvSpPr>
          <p:cNvPr id="229" name="Google Shape;229;p10"/>
          <p:cNvSpPr/>
          <p:nvPr/>
        </p:nvSpPr>
        <p:spPr>
          <a:xfrm>
            <a:off x="7086600" y="3136950"/>
            <a:ext cx="2070600" cy="5841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9525">
            <a:solidFill>
              <a:srgbClr val="0B57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b="1" lang="ru-RU" sz="1300">
                <a:solidFill>
                  <a:schemeClr val="lt1"/>
                </a:solidFill>
                <a:latin typeface="Roboto Mono"/>
                <a:ea typeface="Roboto Mono"/>
                <a:cs typeface="Roboto Mono"/>
                <a:sym typeface="Roboto Mono"/>
              </a:rPr>
              <a:t>search_semantic</a:t>
            </a:r>
            <a:endParaRPr b="1" sz="1300">
              <a:solidFill>
                <a:srgbClr val="FFFFFF"/>
              </a:solidFill>
            </a:endParaRPr>
          </a:p>
        </p:txBody>
      </p:sp>
      <p:sp>
        <p:nvSpPr>
          <p:cNvPr id="230" name="Google Shape;230;p10"/>
          <p:cNvSpPr/>
          <p:nvPr/>
        </p:nvSpPr>
        <p:spPr>
          <a:xfrm>
            <a:off x="7086600" y="4177850"/>
            <a:ext cx="2070600" cy="5841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9525">
            <a:solidFill>
              <a:srgbClr val="0B57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b="1" lang="ru-RU" sz="1300">
                <a:solidFill>
                  <a:schemeClr val="lt1"/>
                </a:solidFill>
                <a:latin typeface="Roboto Mono"/>
                <a:ea typeface="Roboto Mono"/>
                <a:cs typeface="Roboto Mono"/>
                <a:sym typeface="Roboto Mono"/>
              </a:rPr>
              <a:t>search_hybrid</a:t>
            </a:r>
            <a:endParaRPr b="1" sz="1300">
              <a:solidFill>
                <a:srgbClr val="FFFFFF"/>
              </a:solidFill>
            </a:endParaRPr>
          </a:p>
        </p:txBody>
      </p:sp>
      <p:cxnSp>
        <p:nvCxnSpPr>
          <p:cNvPr id="231" name="Google Shape;231;p10"/>
          <p:cNvCxnSpPr>
            <a:stCxn id="226" idx="3"/>
            <a:endCxn id="227" idx="1"/>
          </p:cNvCxnSpPr>
          <p:nvPr/>
        </p:nvCxnSpPr>
        <p:spPr>
          <a:xfrm>
            <a:off x="2510775" y="3221500"/>
            <a:ext cx="9990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32" name="Google Shape;232;p10"/>
          <p:cNvCxnSpPr>
            <a:stCxn id="227" idx="3"/>
            <a:endCxn id="228" idx="1"/>
          </p:cNvCxnSpPr>
          <p:nvPr/>
        </p:nvCxnSpPr>
        <p:spPr>
          <a:xfrm flipH="1" rot="10800000">
            <a:off x="4627350" y="2311300"/>
            <a:ext cx="2459400" cy="9102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33" name="Google Shape;233;p10"/>
          <p:cNvCxnSpPr>
            <a:stCxn id="227" idx="3"/>
            <a:endCxn id="229" idx="1"/>
          </p:cNvCxnSpPr>
          <p:nvPr/>
        </p:nvCxnSpPr>
        <p:spPr>
          <a:xfrm>
            <a:off x="4627350" y="3221500"/>
            <a:ext cx="2459400" cy="2076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34" name="Google Shape;234;p10"/>
          <p:cNvCxnSpPr>
            <a:stCxn id="227" idx="3"/>
            <a:endCxn id="230" idx="1"/>
          </p:cNvCxnSpPr>
          <p:nvPr/>
        </p:nvCxnSpPr>
        <p:spPr>
          <a:xfrm>
            <a:off x="4627350" y="3221500"/>
            <a:ext cx="2459400" cy="12483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8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Google Shape;239;p12"/>
          <p:cNvSpPr txBox="1"/>
          <p:nvPr/>
        </p:nvSpPr>
        <p:spPr>
          <a:xfrm>
            <a:off x="508000" y="254000"/>
            <a:ext cx="1117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ru-RU" sz="2200">
                <a:solidFill>
                  <a:srgbClr val="242120"/>
                </a:solidFill>
                <a:latin typeface="Arial"/>
                <a:ea typeface="Arial"/>
                <a:cs typeface="Arial"/>
                <a:sym typeface="Arial"/>
              </a:rPr>
              <a:t>Corrective RAG и локальная LLM</a:t>
            </a:r>
            <a:endParaRPr b="1" sz="2200">
              <a:solidFill>
                <a:srgbClr val="24212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0" name="Google Shape;240;p12"/>
          <p:cNvSpPr txBox="1"/>
          <p:nvPr/>
        </p:nvSpPr>
        <p:spPr>
          <a:xfrm>
            <a:off x="508000" y="736600"/>
            <a:ext cx="11176000" cy="27699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>
                <a:solidFill>
                  <a:srgbClr val="464744"/>
                </a:solidFill>
                <a:latin typeface="Arial"/>
                <a:ea typeface="Arial"/>
                <a:cs typeface="Arial"/>
                <a:sym typeface="Arial"/>
              </a:rPr>
              <a:t>Граф из ТЗ. Локальная LLM — Qwen3-8B.</a:t>
            </a:r>
            <a:endParaRPr sz="1200">
              <a:solidFill>
                <a:srgbClr val="464744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1" name="Google Shape;241;p12"/>
          <p:cNvSpPr/>
          <p:nvPr/>
        </p:nvSpPr>
        <p:spPr>
          <a:xfrm>
            <a:off x="508000" y="1219200"/>
            <a:ext cx="5461000" cy="2540000"/>
          </a:xfrm>
          <a:prstGeom prst="roundRect">
            <a:avLst>
              <a:gd fmla="val 16667" name="adj"/>
            </a:avLst>
          </a:prstGeom>
          <a:solidFill>
            <a:srgbClr val="F4F3F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2" name="Google Shape;242;p12"/>
          <p:cNvSpPr txBox="1"/>
          <p:nvPr/>
        </p:nvSpPr>
        <p:spPr>
          <a:xfrm>
            <a:off x="711200" y="1397000"/>
            <a:ext cx="5054600" cy="27699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rgbClr val="D0570B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3" name="Google Shape;243;p12"/>
          <p:cNvSpPr txBox="1"/>
          <p:nvPr/>
        </p:nvSpPr>
        <p:spPr>
          <a:xfrm>
            <a:off x="711200" y="1778000"/>
            <a:ext cx="5054600" cy="32316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>
                <a:solidFill>
                  <a:srgbClr val="242120"/>
                </a:solidFill>
                <a:latin typeface="Arial"/>
                <a:ea typeface="Arial"/>
                <a:cs typeface="Arial"/>
                <a:sym typeface="Arial"/>
              </a:rPr>
              <a:t>Rewrite → Retrieve → Grade → Generate</a:t>
            </a:r>
            <a:endParaRPr/>
          </a:p>
        </p:txBody>
      </p:sp>
      <p:sp>
        <p:nvSpPr>
          <p:cNvPr id="244" name="Google Shape;244;p12"/>
          <p:cNvSpPr/>
          <p:nvPr/>
        </p:nvSpPr>
        <p:spPr>
          <a:xfrm>
            <a:off x="6223000" y="1219200"/>
            <a:ext cx="5461000" cy="2540000"/>
          </a:xfrm>
          <a:prstGeom prst="roundRect">
            <a:avLst>
              <a:gd fmla="val 16667" name="adj"/>
            </a:avLst>
          </a:prstGeom>
          <a:solidFill>
            <a:srgbClr val="F4F3F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5" name="Google Shape;245;p12"/>
          <p:cNvSpPr txBox="1"/>
          <p:nvPr/>
        </p:nvSpPr>
        <p:spPr>
          <a:xfrm>
            <a:off x="6426200" y="1397000"/>
            <a:ext cx="5054600" cy="27699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rgbClr val="D0570B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6" name="Google Shape;246;p12"/>
          <p:cNvSpPr txBox="1"/>
          <p:nvPr/>
        </p:nvSpPr>
        <p:spPr>
          <a:xfrm>
            <a:off x="6426200" y="1778000"/>
            <a:ext cx="5054600" cy="32316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>
                <a:solidFill>
                  <a:srgbClr val="242120"/>
                </a:solidFill>
                <a:latin typeface="Arial"/>
                <a:ea typeface="Arial"/>
                <a:cs typeface="Arial"/>
                <a:sym typeface="Arial"/>
              </a:rPr>
              <a:t>Retrieve: BM25 + вектор, слияние RRF</a:t>
            </a:r>
            <a:endParaRPr/>
          </a:p>
        </p:txBody>
      </p:sp>
      <p:sp>
        <p:nvSpPr>
          <p:cNvPr id="247" name="Google Shape;247;p12"/>
          <p:cNvSpPr/>
          <p:nvPr/>
        </p:nvSpPr>
        <p:spPr>
          <a:xfrm>
            <a:off x="508000" y="4013200"/>
            <a:ext cx="5461000" cy="2413000"/>
          </a:xfrm>
          <a:prstGeom prst="roundRect">
            <a:avLst>
              <a:gd fmla="val 16667" name="adj"/>
            </a:avLst>
          </a:prstGeom>
          <a:solidFill>
            <a:srgbClr val="F4F3F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8" name="Google Shape;248;p12"/>
          <p:cNvSpPr txBox="1"/>
          <p:nvPr/>
        </p:nvSpPr>
        <p:spPr>
          <a:xfrm>
            <a:off x="711200" y="4191000"/>
            <a:ext cx="5054600" cy="27699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rgbClr val="D0570B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9" name="Google Shape;249;p12"/>
          <p:cNvSpPr txBox="1"/>
          <p:nvPr/>
        </p:nvSpPr>
        <p:spPr>
          <a:xfrm>
            <a:off x="711200" y="4572000"/>
            <a:ext cx="5054600" cy="32316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>
                <a:solidFill>
                  <a:srgbClr val="242120"/>
                </a:solidFill>
                <a:latin typeface="Arial"/>
                <a:ea typeface="Arial"/>
                <a:cs typeface="Arial"/>
                <a:sym typeface="Arial"/>
              </a:rPr>
              <a:t>Retry: Broaden Query, не больше 2 циклов</a:t>
            </a:r>
            <a:endParaRPr sz="1500">
              <a:solidFill>
                <a:srgbClr val="24212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0" name="Google Shape;250;p12"/>
          <p:cNvSpPr/>
          <p:nvPr/>
        </p:nvSpPr>
        <p:spPr>
          <a:xfrm>
            <a:off x="6223000" y="4013200"/>
            <a:ext cx="5461000" cy="2413000"/>
          </a:xfrm>
          <a:prstGeom prst="roundRect">
            <a:avLst>
              <a:gd fmla="val 16667" name="adj"/>
            </a:avLst>
          </a:prstGeom>
          <a:solidFill>
            <a:srgbClr val="F4F3F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1" name="Google Shape;251;p12"/>
          <p:cNvSpPr txBox="1"/>
          <p:nvPr/>
        </p:nvSpPr>
        <p:spPr>
          <a:xfrm>
            <a:off x="6426200" y="4191000"/>
            <a:ext cx="5054600" cy="27699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>
                <a:solidFill>
                  <a:srgbClr val="D0570B"/>
                </a:solidFill>
                <a:latin typeface="Arial"/>
                <a:ea typeface="Arial"/>
                <a:cs typeface="Arial"/>
                <a:sym typeface="Arial"/>
              </a:rPr>
              <a:t>выбрана</a:t>
            </a:r>
            <a:endParaRPr sz="1200">
              <a:solidFill>
                <a:srgbClr val="D0570B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2" name="Google Shape;252;p12"/>
          <p:cNvSpPr txBox="1"/>
          <p:nvPr/>
        </p:nvSpPr>
        <p:spPr>
          <a:xfrm>
            <a:off x="6426200" y="4572000"/>
            <a:ext cx="5054600" cy="55399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>
                <a:solidFill>
                  <a:srgbClr val="242120"/>
                </a:solidFill>
                <a:latin typeface="Arial"/>
                <a:ea typeface="Arial"/>
                <a:cs typeface="Arial"/>
                <a:sym typeface="Arial"/>
              </a:rPr>
              <a:t>Локальная LLM Qwen3-8B. Оркестрация — Semantic Kernel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13"/>
          <p:cNvSpPr txBox="1"/>
          <p:nvPr/>
        </p:nvSpPr>
        <p:spPr>
          <a:xfrm>
            <a:off x="508000" y="254000"/>
            <a:ext cx="1117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ru-RU" sz="2200">
                <a:solidFill>
                  <a:srgbClr val="242120"/>
                </a:solidFill>
                <a:latin typeface="Arial"/>
                <a:ea typeface="Arial"/>
                <a:cs typeface="Arial"/>
                <a:sym typeface="Arial"/>
              </a:rPr>
              <a:t>Сдача: Docker, CI, конфиг IDE</a:t>
            </a:r>
            <a:endParaRPr b="1" sz="2200">
              <a:solidFill>
                <a:srgbClr val="24212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8" name="Google Shape;258;p13"/>
          <p:cNvSpPr txBox="1"/>
          <p:nvPr/>
        </p:nvSpPr>
        <p:spPr>
          <a:xfrm>
            <a:off x="508000" y="736600"/>
            <a:ext cx="11176000" cy="27699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>
                <a:solidFill>
                  <a:srgbClr val="464744"/>
                </a:solidFill>
                <a:latin typeface="Arial"/>
                <a:ea typeface="Arial"/>
                <a:cs typeface="Arial"/>
                <a:sym typeface="Arial"/>
              </a:rPr>
              <a:t>Инфраструктура из ТЗ. </a:t>
            </a:r>
            <a:endParaRPr sz="1200">
              <a:solidFill>
                <a:srgbClr val="464744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9" name="Google Shape;259;p13"/>
          <p:cNvSpPr/>
          <p:nvPr/>
        </p:nvSpPr>
        <p:spPr>
          <a:xfrm>
            <a:off x="508000" y="1219200"/>
            <a:ext cx="5461000" cy="2540000"/>
          </a:xfrm>
          <a:prstGeom prst="roundRect">
            <a:avLst>
              <a:gd fmla="val 16667" name="adj"/>
            </a:avLst>
          </a:prstGeom>
          <a:solidFill>
            <a:srgbClr val="F4F3F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0" name="Google Shape;260;p13"/>
          <p:cNvSpPr txBox="1"/>
          <p:nvPr/>
        </p:nvSpPr>
        <p:spPr>
          <a:xfrm>
            <a:off x="711200" y="1778000"/>
            <a:ext cx="5054600" cy="55399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>
                <a:solidFill>
                  <a:srgbClr val="242120"/>
                </a:solidFill>
                <a:latin typeface="Arial"/>
                <a:ea typeface="Arial"/>
                <a:cs typeface="Arial"/>
                <a:sym typeface="Arial"/>
              </a:rPr>
              <a:t>Docker Compose: MCP-сервер + Qwen3-8B одной командой</a:t>
            </a:r>
            <a:endParaRPr sz="1500">
              <a:solidFill>
                <a:srgbClr val="24212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1" name="Google Shape;261;p13"/>
          <p:cNvSpPr/>
          <p:nvPr/>
        </p:nvSpPr>
        <p:spPr>
          <a:xfrm>
            <a:off x="6223000" y="1219200"/>
            <a:ext cx="5461000" cy="2540000"/>
          </a:xfrm>
          <a:prstGeom prst="roundRect">
            <a:avLst>
              <a:gd fmla="val 16667" name="adj"/>
            </a:avLst>
          </a:prstGeom>
          <a:solidFill>
            <a:srgbClr val="F4F3F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2" name="Google Shape;262;p13"/>
          <p:cNvSpPr txBox="1"/>
          <p:nvPr/>
        </p:nvSpPr>
        <p:spPr>
          <a:xfrm>
            <a:off x="6426200" y="1778000"/>
            <a:ext cx="5054600" cy="32316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>
                <a:solidFill>
                  <a:srgbClr val="242120"/>
                </a:solidFill>
                <a:latin typeface="Arial"/>
                <a:ea typeface="Arial"/>
                <a:cs typeface="Arial"/>
                <a:sym typeface="Arial"/>
              </a:rPr>
              <a:t>CI pipeline: lint; сборка образа — опционально</a:t>
            </a:r>
            <a:endParaRPr sz="1500">
              <a:solidFill>
                <a:srgbClr val="24212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3" name="Google Shape;263;p13"/>
          <p:cNvSpPr/>
          <p:nvPr/>
        </p:nvSpPr>
        <p:spPr>
          <a:xfrm>
            <a:off x="508000" y="4013200"/>
            <a:ext cx="5461000" cy="2413000"/>
          </a:xfrm>
          <a:prstGeom prst="roundRect">
            <a:avLst>
              <a:gd fmla="val 16667" name="adj"/>
            </a:avLst>
          </a:prstGeom>
          <a:solidFill>
            <a:srgbClr val="F4F3F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4" name="Google Shape;264;p13"/>
          <p:cNvSpPr txBox="1"/>
          <p:nvPr/>
        </p:nvSpPr>
        <p:spPr>
          <a:xfrm>
            <a:off x="711200" y="4572000"/>
            <a:ext cx="5054600" cy="32316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>
                <a:solidFill>
                  <a:srgbClr val="242120"/>
                </a:solidFill>
                <a:latin typeface="Arial"/>
                <a:ea typeface="Arial"/>
                <a:cs typeface="Arial"/>
                <a:sym typeface="Arial"/>
              </a:rPr>
              <a:t>Конфиг MCP для VS Code Copilot / Cursor</a:t>
            </a:r>
            <a:endParaRPr/>
          </a:p>
        </p:txBody>
      </p:sp>
      <p:sp>
        <p:nvSpPr>
          <p:cNvPr id="265" name="Google Shape;265;p13"/>
          <p:cNvSpPr/>
          <p:nvPr/>
        </p:nvSpPr>
        <p:spPr>
          <a:xfrm>
            <a:off x="6223000" y="4013200"/>
            <a:ext cx="5461000" cy="2413000"/>
          </a:xfrm>
          <a:prstGeom prst="roundRect">
            <a:avLst>
              <a:gd fmla="val 16667" name="adj"/>
            </a:avLst>
          </a:prstGeom>
          <a:solidFill>
            <a:srgbClr val="F4F3F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6" name="Google Shape;266;p13"/>
          <p:cNvSpPr txBox="1"/>
          <p:nvPr/>
        </p:nvSpPr>
        <p:spPr>
          <a:xfrm>
            <a:off x="6426200" y="4572000"/>
            <a:ext cx="5054600" cy="32316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>
                <a:solidFill>
                  <a:srgbClr val="242120"/>
                </a:solidFill>
                <a:latin typeface="Arial"/>
                <a:ea typeface="Arial"/>
                <a:cs typeface="Arial"/>
                <a:sym typeface="Arial"/>
              </a:rPr>
              <a:t>Проверка Inspector: status → index → ask → find_docs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14"/>
          <p:cNvSpPr txBox="1"/>
          <p:nvPr/>
        </p:nvSpPr>
        <p:spPr>
          <a:xfrm>
            <a:off x="508000" y="254000"/>
            <a:ext cx="1117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ru-RU" sz="2200">
                <a:solidFill>
                  <a:srgbClr val="242120"/>
                </a:solidFill>
                <a:latin typeface="Arial"/>
                <a:ea typeface="Arial"/>
                <a:cs typeface="Arial"/>
                <a:sym typeface="Arial"/>
              </a:rPr>
              <a:t>Документы </a:t>
            </a:r>
            <a:endParaRPr b="1" sz="2200">
              <a:solidFill>
                <a:srgbClr val="24212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2" name="Google Shape;272;p14"/>
          <p:cNvSpPr txBox="1"/>
          <p:nvPr/>
        </p:nvSpPr>
        <p:spPr>
          <a:xfrm>
            <a:off x="508000" y="736600"/>
            <a:ext cx="11176000" cy="27699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rgbClr val="464744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3" name="Google Shape;273;p14"/>
          <p:cNvSpPr/>
          <p:nvPr/>
        </p:nvSpPr>
        <p:spPr>
          <a:xfrm>
            <a:off x="508000" y="1219200"/>
            <a:ext cx="5461000" cy="2540000"/>
          </a:xfrm>
          <a:prstGeom prst="roundRect">
            <a:avLst>
              <a:gd fmla="val 16667" name="adj"/>
            </a:avLst>
          </a:prstGeom>
          <a:solidFill>
            <a:srgbClr val="F4F3F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4" name="Google Shape;274;p14"/>
          <p:cNvSpPr txBox="1"/>
          <p:nvPr/>
        </p:nvSpPr>
        <p:spPr>
          <a:xfrm>
            <a:off x="711200" y="1397000"/>
            <a:ext cx="5054600" cy="27699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rgbClr val="D0570B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5" name="Google Shape;275;p14"/>
          <p:cNvSpPr txBox="1"/>
          <p:nvPr/>
        </p:nvSpPr>
        <p:spPr>
          <a:xfrm>
            <a:off x="711200" y="1778000"/>
            <a:ext cx="5054600" cy="32316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 u="sng">
                <a:solidFill>
                  <a:schemeClr val="hlink"/>
                </a:solidFill>
                <a:latin typeface="Arial"/>
                <a:ea typeface="Arial"/>
                <a:cs typeface="Arial"/>
                <a:sym typeface="Arial"/>
                <a:hlinkClick r:id="rId3"/>
              </a:rPr>
              <a:t>ARCHITECTURE.md</a:t>
            </a:r>
            <a:r>
              <a:rPr lang="ru-RU" sz="1500">
                <a:solidFill>
                  <a:srgbClr val="242120"/>
                </a:solidFill>
                <a:latin typeface="Arial"/>
                <a:ea typeface="Arial"/>
                <a:cs typeface="Arial"/>
                <a:sym typeface="Arial"/>
              </a:rPr>
              <a:t>  — схема MCP, графа и индексов</a:t>
            </a:r>
            <a:endParaRPr sz="1500">
              <a:solidFill>
                <a:srgbClr val="24212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6" name="Google Shape;276;p14"/>
          <p:cNvSpPr/>
          <p:nvPr/>
        </p:nvSpPr>
        <p:spPr>
          <a:xfrm>
            <a:off x="6223000" y="1219200"/>
            <a:ext cx="5461000" cy="2540000"/>
          </a:xfrm>
          <a:prstGeom prst="roundRect">
            <a:avLst>
              <a:gd fmla="val 16667" name="adj"/>
            </a:avLst>
          </a:prstGeom>
          <a:solidFill>
            <a:srgbClr val="F4F3F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7" name="Google Shape;277;p14"/>
          <p:cNvSpPr txBox="1"/>
          <p:nvPr/>
        </p:nvSpPr>
        <p:spPr>
          <a:xfrm>
            <a:off x="6426200" y="1397000"/>
            <a:ext cx="5054600" cy="27699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rgbClr val="D0570B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8" name="Google Shape;278;p14"/>
          <p:cNvSpPr txBox="1"/>
          <p:nvPr/>
        </p:nvSpPr>
        <p:spPr>
          <a:xfrm>
            <a:off x="6426200" y="1778000"/>
            <a:ext cx="5054600" cy="32316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>
                <a:solidFill>
                  <a:srgbClr val="242120"/>
                </a:solidFill>
                <a:latin typeface="Arial"/>
                <a:ea typeface="Arial"/>
                <a:cs typeface="Arial"/>
                <a:sym typeface="Arial"/>
              </a:rPr>
              <a:t>Проверочные факты в файле </a:t>
            </a:r>
            <a:r>
              <a:rPr lang="ru-RU" sz="1500">
                <a:solidFill>
                  <a:srgbClr val="242120"/>
                </a:solidFill>
              </a:rPr>
              <a:t>Примеры вопросов</a:t>
            </a:r>
            <a:r>
              <a:rPr lang="ru-RU" sz="1500">
                <a:solidFill>
                  <a:srgbClr val="242120"/>
                </a:solidFill>
                <a:latin typeface="Arial"/>
                <a:ea typeface="Arial"/>
                <a:cs typeface="Arial"/>
                <a:sym typeface="Arial"/>
              </a:rPr>
              <a:t>.md </a:t>
            </a:r>
            <a:endParaRPr sz="1500">
              <a:solidFill>
                <a:srgbClr val="24212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9" name="Google Shape;279;p14"/>
          <p:cNvSpPr/>
          <p:nvPr/>
        </p:nvSpPr>
        <p:spPr>
          <a:xfrm>
            <a:off x="508000" y="4013200"/>
            <a:ext cx="5461000" cy="2413000"/>
          </a:xfrm>
          <a:prstGeom prst="roundRect">
            <a:avLst>
              <a:gd fmla="val 16667" name="adj"/>
            </a:avLst>
          </a:prstGeom>
          <a:solidFill>
            <a:srgbClr val="F4F3F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0" name="Google Shape;280;p14"/>
          <p:cNvSpPr txBox="1"/>
          <p:nvPr/>
        </p:nvSpPr>
        <p:spPr>
          <a:xfrm>
            <a:off x="711200" y="4191000"/>
            <a:ext cx="5054600" cy="27699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rgbClr val="D0570B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1" name="Google Shape;281;p14"/>
          <p:cNvSpPr txBox="1"/>
          <p:nvPr/>
        </p:nvSpPr>
        <p:spPr>
          <a:xfrm>
            <a:off x="711200" y="4572000"/>
            <a:ext cx="5054600" cy="32316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 u="sng">
                <a:solidFill>
                  <a:schemeClr val="hlink"/>
                </a:solidFill>
                <a:hlinkClick r:id="rId4"/>
              </a:rPr>
              <a:t>REPORT.md</a:t>
            </a:r>
            <a:r>
              <a:rPr lang="ru-RU" sz="1500">
                <a:solidFill>
                  <a:srgbClr val="242120"/>
                </a:solidFill>
              </a:rPr>
              <a:t> - логирование своих шагов</a:t>
            </a:r>
            <a:endParaRPr sz="1500">
              <a:solidFill>
                <a:srgbClr val="24212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2" name="Google Shape;282;p14"/>
          <p:cNvSpPr/>
          <p:nvPr/>
        </p:nvSpPr>
        <p:spPr>
          <a:xfrm>
            <a:off x="6223000" y="4013200"/>
            <a:ext cx="5461000" cy="2413000"/>
          </a:xfrm>
          <a:prstGeom prst="roundRect">
            <a:avLst>
              <a:gd fmla="val 16667" name="adj"/>
            </a:avLst>
          </a:prstGeom>
          <a:solidFill>
            <a:srgbClr val="F4F3F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3" name="Google Shape;283;p14"/>
          <p:cNvSpPr txBox="1"/>
          <p:nvPr/>
        </p:nvSpPr>
        <p:spPr>
          <a:xfrm>
            <a:off x="6426200" y="4191000"/>
            <a:ext cx="5054600" cy="27699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rgbClr val="D0570B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4" name="Google Shape;284;p14"/>
          <p:cNvSpPr txBox="1"/>
          <p:nvPr/>
        </p:nvSpPr>
        <p:spPr>
          <a:xfrm>
            <a:off x="6426200" y="4572000"/>
            <a:ext cx="5054600" cy="32316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 u="sng">
                <a:solidFill>
                  <a:schemeClr val="hlink"/>
                </a:solidFill>
                <a:hlinkClick r:id="rId5"/>
              </a:rPr>
              <a:t>AGENTS.md</a:t>
            </a:r>
            <a:r>
              <a:rPr lang="ru-RU" sz="1500">
                <a:solidFill>
                  <a:srgbClr val="242120"/>
                </a:solidFill>
              </a:rPr>
              <a:t> - инструкции для агентов</a:t>
            </a:r>
            <a:endParaRPr sz="1500">
              <a:solidFill>
                <a:srgbClr val="24212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8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Google Shape;289;p7"/>
          <p:cNvSpPr txBox="1"/>
          <p:nvPr/>
        </p:nvSpPr>
        <p:spPr>
          <a:xfrm>
            <a:off x="508000" y="254000"/>
            <a:ext cx="111759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ru-RU" sz="2400">
                <a:solidFill>
                  <a:srgbClr val="242120"/>
                </a:solidFill>
                <a:latin typeface="Arial"/>
                <a:ea typeface="Arial"/>
                <a:cs typeface="Arial"/>
                <a:sym typeface="Arial"/>
              </a:rPr>
              <a:t>Траты: токены и доллары</a:t>
            </a:r>
            <a:endParaRPr b="1" sz="2400">
              <a:solidFill>
                <a:srgbClr val="24212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0" name="Google Shape;290;p7"/>
          <p:cNvSpPr/>
          <p:nvPr/>
        </p:nvSpPr>
        <p:spPr>
          <a:xfrm>
            <a:off x="623696" y="929288"/>
            <a:ext cx="3555900" cy="1397100"/>
          </a:xfrm>
          <a:prstGeom prst="roundRect">
            <a:avLst>
              <a:gd fmla="val 16667" name="adj"/>
            </a:avLst>
          </a:prstGeom>
          <a:solidFill>
            <a:srgbClr val="D0570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1" name="Google Shape;291;p7"/>
          <p:cNvSpPr txBox="1"/>
          <p:nvPr/>
        </p:nvSpPr>
        <p:spPr>
          <a:xfrm>
            <a:off x="776096" y="1198463"/>
            <a:ext cx="32511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Токены этого проекта</a:t>
            </a:r>
            <a:endParaRPr sz="1200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2" name="Google Shape;292;p7"/>
          <p:cNvSpPr txBox="1"/>
          <p:nvPr/>
        </p:nvSpPr>
        <p:spPr>
          <a:xfrm>
            <a:off x="775796" y="1475363"/>
            <a:ext cx="3251100" cy="430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ru-RU" sz="2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98,8</a:t>
            </a:r>
            <a:r>
              <a:rPr b="1" lang="ru-RU" sz="2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млн</a:t>
            </a:r>
            <a:endParaRPr/>
          </a:p>
        </p:txBody>
      </p:sp>
      <p:sp>
        <p:nvSpPr>
          <p:cNvPr id="293" name="Google Shape;293;p7"/>
          <p:cNvSpPr/>
          <p:nvPr/>
        </p:nvSpPr>
        <p:spPr>
          <a:xfrm>
            <a:off x="623700" y="2925071"/>
            <a:ext cx="3555900" cy="3318900"/>
          </a:xfrm>
          <a:prstGeom prst="roundRect">
            <a:avLst>
              <a:gd fmla="val 16667" name="adj"/>
            </a:avLst>
          </a:prstGeom>
          <a:solidFill>
            <a:srgbClr val="D0570B"/>
          </a:solidFill>
          <a:ln>
            <a:noFill/>
          </a:ln>
        </p:spPr>
        <p:txBody>
          <a:bodyPr anchorCtr="0" anchor="ctr" bIns="39800" lIns="79600" spcFirstLastPara="1" rIns="79600" wrap="square" tIns="398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68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4" name="Google Shape;294;p7"/>
          <p:cNvSpPr txBox="1"/>
          <p:nvPr/>
        </p:nvSpPr>
        <p:spPr>
          <a:xfrm>
            <a:off x="752998" y="3489224"/>
            <a:ext cx="3296700" cy="241200"/>
          </a:xfrm>
          <a:prstGeom prst="rect">
            <a:avLst/>
          </a:prstGeom>
          <a:noFill/>
          <a:ln>
            <a:noFill/>
          </a:ln>
        </p:spPr>
        <p:txBody>
          <a:bodyPr anchorCtr="0" anchor="t" bIns="39800" lIns="79600" spcFirstLastPara="1" rIns="79600" wrap="square" tIns="398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45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Деньги на ИИ за весь курс OTUS</a:t>
            </a:r>
            <a:endParaRPr sz="1045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5" name="Google Shape;295;p7"/>
          <p:cNvSpPr txBox="1"/>
          <p:nvPr/>
        </p:nvSpPr>
        <p:spPr>
          <a:xfrm>
            <a:off x="753298" y="4194975"/>
            <a:ext cx="3296700" cy="509400"/>
          </a:xfrm>
          <a:prstGeom prst="rect">
            <a:avLst/>
          </a:prstGeom>
          <a:noFill/>
          <a:ln>
            <a:noFill/>
          </a:ln>
        </p:spPr>
        <p:txBody>
          <a:bodyPr anchorCtr="0" anchor="t" bIns="39800" lIns="79600" spcFirstLastPara="1" rIns="79600" wrap="square" tIns="398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ru-RU" sz="2787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$120</a:t>
            </a:r>
            <a:endParaRPr sz="1219"/>
          </a:p>
        </p:txBody>
      </p:sp>
      <p:sp>
        <p:nvSpPr>
          <p:cNvPr id="296" name="Google Shape;296;p7"/>
          <p:cNvSpPr txBox="1"/>
          <p:nvPr/>
        </p:nvSpPr>
        <p:spPr>
          <a:xfrm>
            <a:off x="752998" y="5024924"/>
            <a:ext cx="3296700" cy="268200"/>
          </a:xfrm>
          <a:prstGeom prst="rect">
            <a:avLst/>
          </a:prstGeom>
          <a:noFill/>
          <a:ln>
            <a:noFill/>
          </a:ln>
        </p:spPr>
        <p:txBody>
          <a:bodyPr anchorCtr="0" anchor="t" bIns="39800" lIns="79600" spcFirstLastPara="1" rIns="79600" wrap="square" tIns="398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19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по $60 каждый месяц, итого $120</a:t>
            </a:r>
            <a:endParaRPr sz="1219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7" name="Google Shape;297;p7"/>
          <p:cNvSpPr/>
          <p:nvPr/>
        </p:nvSpPr>
        <p:spPr>
          <a:xfrm>
            <a:off x="6033475" y="1198475"/>
            <a:ext cx="5468100" cy="3906600"/>
          </a:xfrm>
          <a:prstGeom prst="roundRect">
            <a:avLst>
              <a:gd fmla="val 16667" name="adj"/>
            </a:avLst>
          </a:prstGeom>
          <a:solidFill>
            <a:srgbClr val="F4F3F1"/>
          </a:solidFill>
          <a:ln>
            <a:noFill/>
          </a:ln>
        </p:spPr>
        <p:txBody>
          <a:bodyPr anchorCtr="0" anchor="ctr" bIns="46850" lIns="93750" spcFirstLastPara="1" rIns="93750" wrap="square" tIns="4685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45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8" name="Google Shape;298;p7"/>
          <p:cNvSpPr txBox="1"/>
          <p:nvPr/>
        </p:nvSpPr>
        <p:spPr>
          <a:xfrm>
            <a:off x="6241569" y="1723067"/>
            <a:ext cx="5051700" cy="284100"/>
          </a:xfrm>
          <a:prstGeom prst="rect">
            <a:avLst/>
          </a:prstGeom>
          <a:noFill/>
          <a:ln>
            <a:noFill/>
          </a:ln>
        </p:spPr>
        <p:txBody>
          <a:bodyPr anchorCtr="0" anchor="t" bIns="46850" lIns="93750" spcFirstLastPara="1" rIns="93750" wrap="square" tIns="4685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35">
                <a:solidFill>
                  <a:srgbClr val="464744"/>
                </a:solidFill>
              </a:rPr>
              <a:t>Траты токенов на проект</a:t>
            </a:r>
            <a:r>
              <a:rPr lang="ru-RU" sz="1435">
                <a:solidFill>
                  <a:srgbClr val="464744"/>
                </a:solidFill>
                <a:latin typeface="Arial"/>
                <a:ea typeface="Arial"/>
                <a:cs typeface="Arial"/>
                <a:sym typeface="Arial"/>
              </a:rPr>
              <a:t> MCP.RAG.StarTrek</a:t>
            </a:r>
            <a:endParaRPr sz="1640"/>
          </a:p>
        </p:txBody>
      </p:sp>
      <p:sp>
        <p:nvSpPr>
          <p:cNvPr id="299" name="Google Shape;299;p7"/>
          <p:cNvSpPr txBox="1"/>
          <p:nvPr/>
        </p:nvSpPr>
        <p:spPr>
          <a:xfrm>
            <a:off x="6894420" y="2175746"/>
            <a:ext cx="3319200" cy="2125200"/>
          </a:xfrm>
          <a:prstGeom prst="rect">
            <a:avLst/>
          </a:prstGeom>
          <a:noFill/>
          <a:ln>
            <a:noFill/>
          </a:ln>
        </p:spPr>
        <p:txBody>
          <a:bodyPr anchorCtr="0" anchor="t" bIns="46850" lIns="93750" spcFirstLastPara="1" rIns="93750" wrap="square" tIns="468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40">
                <a:solidFill>
                  <a:srgbClr val="242120"/>
                </a:solidFill>
                <a:latin typeface="Arial"/>
                <a:ea typeface="Arial"/>
                <a:cs typeface="Arial"/>
                <a:sym typeface="Arial"/>
              </a:rPr>
              <a:t>Cache Read — </a:t>
            </a:r>
            <a:r>
              <a:rPr lang="ru-RU" sz="1640">
                <a:solidFill>
                  <a:srgbClr val="242120"/>
                </a:solidFill>
                <a:latin typeface="Arial"/>
                <a:ea typeface="Arial"/>
                <a:cs typeface="Arial"/>
                <a:sym typeface="Arial"/>
              </a:rPr>
              <a:t>66,7</a:t>
            </a:r>
            <a:r>
              <a:rPr lang="ru-RU" sz="1640">
                <a:solidFill>
                  <a:srgbClr val="242120"/>
                </a:solidFill>
                <a:latin typeface="Arial"/>
                <a:ea typeface="Arial"/>
                <a:cs typeface="Arial"/>
                <a:sym typeface="Arial"/>
              </a:rPr>
              <a:t> млн</a:t>
            </a:r>
            <a:endParaRPr sz="1640">
              <a:solidFill>
                <a:srgbClr val="24212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40">
              <a:solidFill>
                <a:srgbClr val="242120"/>
              </a:solidFill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40">
                <a:solidFill>
                  <a:srgbClr val="242120"/>
                </a:solidFill>
                <a:latin typeface="Arial"/>
                <a:ea typeface="Arial"/>
                <a:cs typeface="Arial"/>
                <a:sym typeface="Arial"/>
              </a:rPr>
              <a:t>Cache Write — 1,5 млн</a:t>
            </a:r>
            <a:endParaRPr sz="1640">
              <a:solidFill>
                <a:srgbClr val="24212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40">
              <a:solidFill>
                <a:srgbClr val="242120"/>
              </a:solidFill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40">
                <a:solidFill>
                  <a:srgbClr val="242120"/>
                </a:solidFill>
                <a:latin typeface="Arial"/>
                <a:ea typeface="Arial"/>
                <a:cs typeface="Arial"/>
                <a:sym typeface="Arial"/>
              </a:rPr>
              <a:t>Input — 6,7 млн</a:t>
            </a:r>
            <a:endParaRPr sz="1640">
              <a:solidFill>
                <a:srgbClr val="24212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40">
              <a:solidFill>
                <a:srgbClr val="242120"/>
              </a:solidFill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40">
                <a:solidFill>
                  <a:srgbClr val="242120"/>
                </a:solidFill>
                <a:latin typeface="Arial"/>
                <a:ea typeface="Arial"/>
                <a:cs typeface="Arial"/>
                <a:sym typeface="Arial"/>
              </a:rPr>
              <a:t>Output — 1,0 млн</a:t>
            </a:r>
            <a:endParaRPr sz="1435"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35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h5725e6b1b9df4986_0_31"/>
          <p:cNvSpPr/>
          <p:nvPr/>
        </p:nvSpPr>
        <p:spPr>
          <a:xfrm>
            <a:off x="731458" y="1031855"/>
            <a:ext cx="10400400" cy="4794300"/>
          </a:xfrm>
          <a:prstGeom prst="roundRect">
            <a:avLst>
              <a:gd fmla="val 16667" name="adj"/>
            </a:avLst>
          </a:prstGeom>
          <a:solidFill>
            <a:srgbClr val="D0570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5" name="Google Shape;305;h5725e6b1b9df4986_0_31"/>
          <p:cNvSpPr txBox="1"/>
          <p:nvPr/>
        </p:nvSpPr>
        <p:spPr>
          <a:xfrm>
            <a:off x="3839850" y="3121200"/>
            <a:ext cx="4512300" cy="6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ru-RU" sz="2800">
                <a:solidFill>
                  <a:schemeClr val="lt1"/>
                </a:solidFill>
              </a:rPr>
              <a:t>Спасибо за внимание!</a:t>
            </a:r>
            <a:endParaRPr b="1" sz="2800"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2026-10-12T13:32:41Z</dcterms:created>
  <dc:creator>Ольга Васильева</dc:creator>
</cp:coreProperties>
</file>