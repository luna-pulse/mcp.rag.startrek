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B13C-073B-BA60-2BF3-06CDDA46E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230EEC-38D9-9FFC-267B-57F0CA61E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82362-1A9C-804B-44A6-5CA20C32C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5D0C7-1526-F1DE-A782-2EFE4D3C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BFBB4-1A04-08B1-034F-B9A080F9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91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F4DE-8A1C-3FDA-7B90-05C399E1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8820-BDF9-7BE0-EB2F-5A8166828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B9BE2-EBD5-F1E8-CC5F-BADD628D8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F42A2-5011-928C-2E75-19249A6E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245E2-317A-143E-BD3F-E05AA9AB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3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9BB9-D25B-C59F-46F3-80AE14B15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ECD19-4090-90BA-ACDF-B464F0064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25910-D193-3970-DCC9-AD4B16FB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0F0D5-AB36-0D99-0C16-AAC333D3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245F7-E76E-90E5-BF19-256D9DDB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5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49EF-A8CA-61DA-0A41-E6465571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57492-512E-504D-43FF-8B93C4439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A602C-B24D-7516-9636-541E4886C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CCF69-C3C9-0776-9365-1948D30E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D7B68-B8B1-BFD0-2CC9-A87BDE53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5ED0F-2DC0-9B31-FC1F-1F5F1999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36F9-B236-F371-0277-C7834D229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888CC-3F92-C554-679A-D69ED92A8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2FF1F-454D-0B02-13F5-38C1D3CC2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1C99F-BBCA-779D-8DB1-5C190655A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B703F-0E9C-E7C3-A90A-50ACA441C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0287A6-D31A-338B-A64E-E28AAA63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0759C2-9FC2-006A-FDDA-4F2DE14F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AEE0D-90F5-5CAD-A49D-C6E15F71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5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1B783-5487-FCBF-1E25-FEDE7EE0D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47B3F-7207-FEFB-F6FA-A61B63066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89BE4-56EC-C649-3BE9-010DA0411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0D33A-E676-506F-A39B-A444B786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9626A-0CE9-2AF4-C6C1-4CE7DCFFE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5BA86-9533-940C-9D77-79AC457E1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AD100-6683-DCCB-4B50-16118C8A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5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F1B3-B8B0-3EE1-80E9-69F86D331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49E71-0093-79B7-514F-FBDC985F4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22B55-B61B-27D1-FE8D-93AC0E45C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54CF2-D6C1-1F36-074D-55F19234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6E26C-53A7-4E1D-F372-F716D803B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4CB09-BB29-46BA-FD79-F83BB05A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2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C241-37D2-CCDC-2B46-F62ABC0B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0014E4-6080-A70D-F777-8FC386A2A3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37010-BD47-5B1A-BE48-2A39C4874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4ED09-AB77-1058-7310-C9F25AC5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EEBDE-B702-6B5D-8ECF-A5CB30D9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3A096-F5BB-8196-DD2B-ABBC08A90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6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1DA9-3AF6-0071-D178-BA31F207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3622A-4C06-11BF-CB43-13E4222AA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963A9-47B5-C4FA-041B-5C05E2CA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6E4B3-E987-3318-8EFA-07EE9736A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4ABB4-D13E-0DA4-9CC2-D4F5F54A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0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BE8B4-CED0-5AA5-9D6F-B625CD03B6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C4BBA-C571-736C-1398-DC75A36C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FABC2-97BD-50A7-9285-7923CA2A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003B5-45F6-3B30-0257-29218EB7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663A8-CEF0-06AE-6196-9BC415BC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5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9C98C2-46D6-0D3E-07DD-66013D07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128CF-41A6-D856-7E32-31B5C91CE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DAC27-50A8-7A96-6201-E8DAB670A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296F-7CBF-4D3C-8F72-2F4ABC3596D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F8BBB-4DDA-B23D-586A-CCE448B93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AFD79-C301-1E1A-8416-C7E148B43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9B0FF-6229-4F38-949C-C3AFE3F4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7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E3F9D5-08C6-A37B-2C09-BD2B6D938916}"/>
              </a:ext>
            </a:extLst>
          </p:cNvPr>
          <p:cNvSpPr txBox="1"/>
          <p:nvPr/>
        </p:nvSpPr>
        <p:spPr>
          <a:xfrm>
            <a:off x="1016000" y="1905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000" b="1">
                <a:solidFill>
                  <a:srgbClr val="D0570B"/>
                </a:solidFill>
                <a:latin typeface="Arial" panose="020B0604020202020204" pitchFamily="34" charset="0"/>
              </a:rPr>
              <a:t>MCP.RAG.StarTrek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792D4-3196-F5AF-FD7A-1A6B073F9A8E}"/>
              </a:ext>
            </a:extLst>
          </p:cNvPr>
          <p:cNvSpPr txBox="1"/>
          <p:nvPr/>
        </p:nvSpPr>
        <p:spPr>
          <a:xfrm>
            <a:off x="1016000" y="27178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>
                <a:solidFill>
                  <a:srgbClr val="242120"/>
                </a:solidFill>
                <a:latin typeface="Arial" panose="020B0604020202020204" pitchFamily="34" charset="0"/>
              </a:rPr>
              <a:t>Индексатор предметной области Star Trek: MCP + RAG</a:t>
            </a:r>
            <a:endParaRPr lang="en-US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140C4-82F2-1116-12F6-35CC1DE93683}"/>
              </a:ext>
            </a:extLst>
          </p:cNvPr>
          <p:cNvSpPr txBox="1"/>
          <p:nvPr/>
        </p:nvSpPr>
        <p:spPr>
          <a:xfrm>
            <a:off x="1016000" y="3683000"/>
            <a:ext cx="10160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2600" b="1">
                <a:solidFill>
                  <a:srgbClr val="242120"/>
                </a:solidFill>
                <a:latin typeface="Arial" panose="020B0604020202020204" pitchFamily="34" charset="0"/>
              </a:rPr>
              <a:t>Васильева Ольга Витальевна</a:t>
            </a:r>
            <a:endParaRPr lang="en-US" sz="26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1EA69-778D-3EEB-C81F-F455B750ACCE}"/>
              </a:ext>
            </a:extLst>
          </p:cNvPr>
          <p:cNvSpPr txBox="1"/>
          <p:nvPr/>
        </p:nvSpPr>
        <p:spPr>
          <a:xfrm>
            <a:off x="1016000" y="4267200"/>
            <a:ext cx="101600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600">
                <a:solidFill>
                  <a:srgbClr val="464744"/>
                </a:solidFill>
                <a:latin typeface="Arial" panose="020B0604020202020204" pitchFamily="34" charset="0"/>
              </a:rPr>
              <a:t>студент </a:t>
            </a:r>
            <a:r>
              <a:rPr lang="en-US" sz="1600">
                <a:solidFill>
                  <a:srgbClr val="464744"/>
                </a:solidFill>
                <a:latin typeface="Arial" panose="020B0604020202020204" pitchFamily="34" charset="0"/>
              </a:rPr>
              <a:t>OTUS  ·  2026</a:t>
            </a:r>
          </a:p>
        </p:txBody>
      </p:sp>
    </p:spTree>
    <p:extLst>
      <p:ext uri="{BB962C8B-B14F-4D97-AF65-F5344CB8AC3E}">
        <p14:creationId xmlns:p14="http://schemas.microsoft.com/office/powerpoint/2010/main" val="1435538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0C17AE-8DE1-AEF4-0220-EE7D32D4777D}"/>
              </a:ext>
            </a:extLst>
          </p:cNvPr>
          <p:cNvSpPr txBox="1"/>
          <p:nvPr/>
        </p:nvSpPr>
        <p:spPr>
          <a:xfrm>
            <a:off x="609600" y="355600"/>
            <a:ext cx="109728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600" b="1">
                <a:solidFill>
                  <a:srgbClr val="242120"/>
                </a:solidFill>
                <a:latin typeface="Arial" panose="020B0604020202020204" pitchFamily="34" charset="0"/>
              </a:rPr>
              <a:t>О проекте</a:t>
            </a:r>
            <a:endParaRPr lang="en-US" sz="26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1F1415-EE24-805D-FC26-2A63D096CB34}"/>
              </a:ext>
            </a:extLst>
          </p:cNvPr>
          <p:cNvSpPr/>
          <p:nvPr/>
        </p:nvSpPr>
        <p:spPr>
          <a:xfrm>
            <a:off x="609600" y="1143000"/>
            <a:ext cx="3556000" cy="508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B0181-A440-9061-177B-43FB488509B3}"/>
              </a:ext>
            </a:extLst>
          </p:cNvPr>
          <p:cNvSpPr txBox="1"/>
          <p:nvPr/>
        </p:nvSpPr>
        <p:spPr>
          <a:xfrm>
            <a:off x="812800" y="1346200"/>
            <a:ext cx="3149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Предметная область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C2F3C-DF62-8AFE-2C8D-45E8F9522D47}"/>
              </a:ext>
            </a:extLst>
          </p:cNvPr>
          <p:cNvSpPr txBox="1"/>
          <p:nvPr/>
        </p:nvSpPr>
        <p:spPr>
          <a:xfrm>
            <a:off x="812800" y="1752600"/>
            <a:ext cx="3149600" cy="101566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Выбранная предметная область — сериал Star Trek. Файлы на русском в SourceFiles: расы, планеты, корабли, сериалы.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12C9C2-D95E-BDF3-C9DD-334D032831F9}"/>
              </a:ext>
            </a:extLst>
          </p:cNvPr>
          <p:cNvSpPr/>
          <p:nvPr/>
        </p:nvSpPr>
        <p:spPr>
          <a:xfrm>
            <a:off x="4318000" y="1143000"/>
            <a:ext cx="3556000" cy="508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1C1DC-8F7F-3554-1589-0558FEF5FEA7}"/>
              </a:ext>
            </a:extLst>
          </p:cNvPr>
          <p:cNvSpPr txBox="1"/>
          <p:nvPr/>
        </p:nvSpPr>
        <p:spPr>
          <a:xfrm>
            <a:off x="4521200" y="1346200"/>
            <a:ext cx="3149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Цель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06A3A-931B-A0BE-B87E-283CF0D0AFD6}"/>
              </a:ext>
            </a:extLst>
          </p:cNvPr>
          <p:cNvSpPr txBox="1"/>
          <p:nvPr/>
        </p:nvSpPr>
        <p:spPr>
          <a:xfrm>
            <a:off x="4521200" y="1752600"/>
            <a:ext cx="3149600" cy="7848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База знаний в IDE: агент отвечает по файлам проекта, а не из общих знаний модели.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C99ECA-49B9-A269-724C-064E5C9386C7}"/>
              </a:ext>
            </a:extLst>
          </p:cNvPr>
          <p:cNvSpPr/>
          <p:nvPr/>
        </p:nvSpPr>
        <p:spPr>
          <a:xfrm>
            <a:off x="8026400" y="1143000"/>
            <a:ext cx="3556000" cy="508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B6AD83-A69E-FC0D-8FE4-291BB4D5B5C2}"/>
              </a:ext>
            </a:extLst>
          </p:cNvPr>
          <p:cNvSpPr txBox="1"/>
          <p:nvPr/>
        </p:nvSpPr>
        <p:spPr>
          <a:xfrm>
            <a:off x="8229600" y="1346200"/>
            <a:ext cx="3149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Сейчас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6F857-D109-0A5B-2F22-C02D6EC63CA9}"/>
              </a:ext>
            </a:extLst>
          </p:cNvPr>
          <p:cNvSpPr txBox="1"/>
          <p:nvPr/>
        </p:nvSpPr>
        <p:spPr>
          <a:xfrm>
            <a:off x="8229600" y="1752600"/>
            <a:ext cx="3149600" cy="7848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Готов индексатор на C# / .NET 10. MCP-сервер и Corrective RAG — ещё впереди.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2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2DA6D3-A82D-A2AD-F748-3529516207A8}"/>
              </a:ext>
            </a:extLst>
          </p:cNvPr>
          <p:cNvSpPr txBox="1"/>
          <p:nvPr/>
        </p:nvSpPr>
        <p:spPr>
          <a:xfrm>
            <a:off x="508000" y="304800"/>
            <a:ext cx="11176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600" b="1">
                <a:solidFill>
                  <a:srgbClr val="242120"/>
                </a:solidFill>
                <a:latin typeface="Arial" panose="020B0604020202020204" pitchFamily="34" charset="0"/>
              </a:rPr>
              <a:t>Схема индексации</a:t>
            </a:r>
            <a:endParaRPr lang="en-US" sz="26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02550-5471-D49F-2EAB-537F9701BE04}"/>
              </a:ext>
            </a:extLst>
          </p:cNvPr>
          <p:cNvSpPr txBox="1"/>
          <p:nvPr/>
        </p:nvSpPr>
        <p:spPr>
          <a:xfrm>
            <a:off x="508000" y="8128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По README: файлы предметной области идут в команды, затем в два индекса.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80AB6D-2CA7-21BC-E446-A933EF5F847A}"/>
              </a:ext>
            </a:extLst>
          </p:cNvPr>
          <p:cNvSpPr/>
          <p:nvPr/>
        </p:nvSpPr>
        <p:spPr>
          <a:xfrm>
            <a:off x="508000" y="3175000"/>
            <a:ext cx="2032000" cy="7112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0B486-E6D3-CFCD-082B-3E3E16BECE26}"/>
              </a:ext>
            </a:extLst>
          </p:cNvPr>
          <p:cNvSpPr txBox="1"/>
          <p:nvPr/>
        </p:nvSpPr>
        <p:spPr>
          <a:xfrm>
            <a:off x="508000" y="3175000"/>
            <a:ext cx="2032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SourceFiles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A86698-4C61-E692-5A5F-DDE0B3A8B24A}"/>
              </a:ext>
            </a:extLst>
          </p:cNvPr>
          <p:cNvSpPr/>
          <p:nvPr/>
        </p:nvSpPr>
        <p:spPr>
          <a:xfrm>
            <a:off x="3048000" y="1778000"/>
            <a:ext cx="1778000" cy="635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39923-6810-8FE2-C7B8-FB18D8F8139B}"/>
              </a:ext>
            </a:extLst>
          </p:cNvPr>
          <p:cNvSpPr txBox="1"/>
          <p:nvPr/>
        </p:nvSpPr>
        <p:spPr>
          <a:xfrm>
            <a:off x="3048000" y="1778000"/>
            <a:ext cx="177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 b="1">
                <a:solidFill>
                  <a:srgbClr val="242120"/>
                </a:solidFill>
                <a:latin typeface="Arial" panose="020B0604020202020204" pitchFamily="34" charset="0"/>
              </a:rPr>
              <a:t>analyze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337DA2-739C-3CCE-9DEB-31F6A15C1F71}"/>
              </a:ext>
            </a:extLst>
          </p:cNvPr>
          <p:cNvSpPr/>
          <p:nvPr/>
        </p:nvSpPr>
        <p:spPr>
          <a:xfrm>
            <a:off x="3048000" y="3810000"/>
            <a:ext cx="1778000" cy="635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583C2-70F1-478D-77FF-151BF7D5F582}"/>
              </a:ext>
            </a:extLst>
          </p:cNvPr>
          <p:cNvSpPr txBox="1"/>
          <p:nvPr/>
        </p:nvSpPr>
        <p:spPr>
          <a:xfrm>
            <a:off x="3048000" y="3810000"/>
            <a:ext cx="1778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 b="1">
                <a:solidFill>
                  <a:srgbClr val="242120"/>
                </a:solidFill>
                <a:latin typeface="Arial" panose="020B0604020202020204" pitchFamily="34" charset="0"/>
              </a:rPr>
              <a:t>chunk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75153F-937B-B2EA-B764-142DA8769D7A}"/>
              </a:ext>
            </a:extLst>
          </p:cNvPr>
          <p:cNvSpPr/>
          <p:nvPr/>
        </p:nvSpPr>
        <p:spPr>
          <a:xfrm>
            <a:off x="5334000" y="3810000"/>
            <a:ext cx="1905000" cy="635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D5EC79-6C08-4A09-9851-6DE67F610589}"/>
              </a:ext>
            </a:extLst>
          </p:cNvPr>
          <p:cNvSpPr txBox="1"/>
          <p:nvPr/>
        </p:nvSpPr>
        <p:spPr>
          <a:xfrm>
            <a:off x="5334000" y="3810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 b="1">
                <a:solidFill>
                  <a:srgbClr val="242120"/>
                </a:solidFill>
                <a:latin typeface="Arial" panose="020B0604020202020204" pitchFamily="34" charset="0"/>
              </a:rPr>
              <a:t>stagingJson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13883A-2B0A-C4CC-E8B3-AA74BC799FD6}"/>
              </a:ext>
            </a:extLst>
          </p:cNvPr>
          <p:cNvSpPr/>
          <p:nvPr/>
        </p:nvSpPr>
        <p:spPr>
          <a:xfrm>
            <a:off x="5334000" y="5080000"/>
            <a:ext cx="1905000" cy="635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EC55D8-ABB1-154B-799E-5CFCA32D698F}"/>
              </a:ext>
            </a:extLst>
          </p:cNvPr>
          <p:cNvSpPr txBox="1"/>
          <p:nvPr/>
        </p:nvSpPr>
        <p:spPr>
          <a:xfrm>
            <a:off x="5334000" y="5080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 b="1">
                <a:solidFill>
                  <a:srgbClr val="242120"/>
                </a:solidFill>
                <a:latin typeface="Arial" panose="020B0604020202020204" pitchFamily="34" charset="0"/>
              </a:rPr>
              <a:t>e5small_ONNX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A6EA32-4627-7308-D0BF-BFE3BC7B46AF}"/>
              </a:ext>
            </a:extLst>
          </p:cNvPr>
          <p:cNvSpPr/>
          <p:nvPr/>
        </p:nvSpPr>
        <p:spPr>
          <a:xfrm>
            <a:off x="7747000" y="3810000"/>
            <a:ext cx="1524000" cy="635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6794BB-4177-6735-33A5-855746B857CE}"/>
              </a:ext>
            </a:extLst>
          </p:cNvPr>
          <p:cNvSpPr txBox="1"/>
          <p:nvPr/>
        </p:nvSpPr>
        <p:spPr>
          <a:xfrm>
            <a:off x="7747000" y="3810000"/>
            <a:ext cx="1524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embed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2EF48B-F3C7-F48D-FECB-061CDBA21472}"/>
              </a:ext>
            </a:extLst>
          </p:cNvPr>
          <p:cNvSpPr/>
          <p:nvPr/>
        </p:nvSpPr>
        <p:spPr>
          <a:xfrm>
            <a:off x="9779000" y="2032000"/>
            <a:ext cx="1905000" cy="635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8FC187-EC6B-B222-62C1-5AE1298A266E}"/>
              </a:ext>
            </a:extLst>
          </p:cNvPr>
          <p:cNvSpPr txBox="1"/>
          <p:nvPr/>
        </p:nvSpPr>
        <p:spPr>
          <a:xfrm>
            <a:off x="9779000" y="2032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ChromaDB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1DC4B52-C8B8-727B-CB1E-E1D03F09486E}"/>
              </a:ext>
            </a:extLst>
          </p:cNvPr>
          <p:cNvSpPr/>
          <p:nvPr/>
        </p:nvSpPr>
        <p:spPr>
          <a:xfrm>
            <a:off x="9779000" y="5080000"/>
            <a:ext cx="1905000" cy="635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7C5A5-E56D-5838-2EEF-82FB44CD6C46}"/>
              </a:ext>
            </a:extLst>
          </p:cNvPr>
          <p:cNvSpPr txBox="1"/>
          <p:nvPr/>
        </p:nvSpPr>
        <p:spPr>
          <a:xfrm>
            <a:off x="9779000" y="5080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Bm25InMemory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6B25BB-4194-4259-6197-1693DDEF412F}"/>
              </a:ext>
            </a:extLst>
          </p:cNvPr>
          <p:cNvSpPr txBox="1"/>
          <p:nvPr/>
        </p:nvSpPr>
        <p:spPr>
          <a:xfrm>
            <a:off x="2540000" y="2794000"/>
            <a:ext cx="5080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D0570B"/>
                </a:solidFill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D800E-29F7-4F8E-4E4A-1DA3A6F8F691}"/>
              </a:ext>
            </a:extLst>
          </p:cNvPr>
          <p:cNvSpPr txBox="1"/>
          <p:nvPr/>
        </p:nvSpPr>
        <p:spPr>
          <a:xfrm>
            <a:off x="4826000" y="3937000"/>
            <a:ext cx="5080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D0570B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501EBD-651C-C062-66B9-A1E8A5039A8F}"/>
              </a:ext>
            </a:extLst>
          </p:cNvPr>
          <p:cNvSpPr txBox="1"/>
          <p:nvPr/>
        </p:nvSpPr>
        <p:spPr>
          <a:xfrm>
            <a:off x="7239000" y="3937000"/>
            <a:ext cx="5080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D0570B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1C344E-311C-C5D7-347F-E498DC30F2D2}"/>
              </a:ext>
            </a:extLst>
          </p:cNvPr>
          <p:cNvSpPr txBox="1"/>
          <p:nvPr/>
        </p:nvSpPr>
        <p:spPr>
          <a:xfrm>
            <a:off x="9271000" y="2921000"/>
            <a:ext cx="5080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D0570B"/>
                </a:solidFill>
                <a:latin typeface="Arial" panose="020B0604020202020204" pitchFamily="34" charset="0"/>
              </a:rPr>
              <a:t>↑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B713E-CBFD-ABDE-A37B-7A5D3C1C0721}"/>
              </a:ext>
            </a:extLst>
          </p:cNvPr>
          <p:cNvSpPr txBox="1"/>
          <p:nvPr/>
        </p:nvSpPr>
        <p:spPr>
          <a:xfrm>
            <a:off x="9271000" y="4699000"/>
            <a:ext cx="5080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D0570B"/>
                </a:solidFill>
                <a:latin typeface="Arial" panose="020B0604020202020204" pitchFamily="34" charset="0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211405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D6896-8001-5011-10D8-F3060289958D}"/>
              </a:ext>
            </a:extLst>
          </p:cNvPr>
          <p:cNvSpPr txBox="1"/>
          <p:nvPr/>
        </p:nvSpPr>
        <p:spPr>
          <a:xfrm>
            <a:off x="609600" y="355600"/>
            <a:ext cx="109728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400" b="1">
                <a:solidFill>
                  <a:srgbClr val="242120"/>
                </a:solidFill>
                <a:latin typeface="Arial" panose="020B0604020202020204" pitchFamily="34" charset="0"/>
              </a:rPr>
              <a:t>Поиск: два индекса и RRF</a:t>
            </a:r>
            <a:endParaRPr lang="en-US" sz="24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4FBA1-456B-84D5-AD73-2827BBC6EBA3}"/>
              </a:ext>
            </a:extLst>
          </p:cNvPr>
          <p:cNvSpPr txBox="1"/>
          <p:nvPr/>
        </p:nvSpPr>
        <p:spPr>
          <a:xfrm>
            <a:off x="609600" y="863600"/>
            <a:ext cx="109728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464744"/>
                </a:solidFill>
                <a:latin typeface="Arial" panose="020B0604020202020204" pitchFamily="34" charset="0"/>
              </a:rPr>
              <a:t>CLI </a:t>
            </a:r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поиска нет. </a:t>
            </a:r>
            <a:r>
              <a:rPr lang="en-US" sz="1200">
                <a:solidFill>
                  <a:srgbClr val="464744"/>
                </a:solidFill>
                <a:latin typeface="Arial" panose="020B0604020202020204" pitchFamily="34" charset="0"/>
              </a:rPr>
              <a:t>HybridSearchService — </a:t>
            </a:r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внутренний </a:t>
            </a:r>
            <a:r>
              <a:rPr lang="en-US" sz="1200">
                <a:solidFill>
                  <a:srgbClr val="464744"/>
                </a:solidFill>
                <a:latin typeface="Arial" panose="020B0604020202020204" pitchFamily="34" charset="0"/>
              </a:rPr>
              <a:t>API </a:t>
            </a:r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для </a:t>
            </a:r>
            <a:r>
              <a:rPr lang="en-US" sz="1200">
                <a:solidFill>
                  <a:srgbClr val="464744"/>
                </a:solidFill>
                <a:latin typeface="Arial" panose="020B0604020202020204" pitchFamily="34" charset="0"/>
              </a:rPr>
              <a:t>Semantic Kernel.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315E28-F648-6DC0-B2B8-A7309BBBB3D8}"/>
              </a:ext>
            </a:extLst>
          </p:cNvPr>
          <p:cNvSpPr/>
          <p:nvPr/>
        </p:nvSpPr>
        <p:spPr>
          <a:xfrm>
            <a:off x="609600" y="1651000"/>
            <a:ext cx="2082800" cy="1016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9A0D8-1653-C974-3573-4CE7A308723F}"/>
              </a:ext>
            </a:extLst>
          </p:cNvPr>
          <p:cNvSpPr txBox="1"/>
          <p:nvPr/>
        </p:nvSpPr>
        <p:spPr>
          <a:xfrm>
            <a:off x="609600" y="1879600"/>
            <a:ext cx="20828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Запрос</a:t>
            </a:r>
            <a:endParaRPr 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402E8C-6477-8E99-2039-0A3C573D1279}"/>
              </a:ext>
            </a:extLst>
          </p:cNvPr>
          <p:cNvSpPr/>
          <p:nvPr/>
        </p:nvSpPr>
        <p:spPr>
          <a:xfrm>
            <a:off x="2895600" y="1651000"/>
            <a:ext cx="2082800" cy="1016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C8BE8-7DAA-7EAC-D3AA-C28854C53915}"/>
              </a:ext>
            </a:extLst>
          </p:cNvPr>
          <p:cNvSpPr txBox="1"/>
          <p:nvPr/>
        </p:nvSpPr>
        <p:spPr>
          <a:xfrm>
            <a:off x="2895600" y="1879600"/>
            <a:ext cx="20828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242120"/>
                </a:solidFill>
                <a:latin typeface="Arial" panose="020B0604020202020204" pitchFamily="34" charset="0"/>
              </a:rPr>
              <a:t>query: + </a:t>
            </a:r>
            <a:r>
              <a:rPr lang="ru-RU" sz="1400" b="1">
                <a:solidFill>
                  <a:srgbClr val="242120"/>
                </a:solidFill>
                <a:latin typeface="Arial" panose="020B0604020202020204" pitchFamily="34" charset="0"/>
              </a:rPr>
              <a:t>вектор</a:t>
            </a:r>
            <a:endParaRPr lang="en-US" sz="14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B3B23E-4F58-A2AF-B96E-A5CADCE3266A}"/>
              </a:ext>
            </a:extLst>
          </p:cNvPr>
          <p:cNvSpPr/>
          <p:nvPr/>
        </p:nvSpPr>
        <p:spPr>
          <a:xfrm>
            <a:off x="5181600" y="1651000"/>
            <a:ext cx="2082800" cy="1016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BE693-E7E4-F518-2F8A-E8AE544F2462}"/>
              </a:ext>
            </a:extLst>
          </p:cNvPr>
          <p:cNvSpPr txBox="1"/>
          <p:nvPr/>
        </p:nvSpPr>
        <p:spPr>
          <a:xfrm>
            <a:off x="5181600" y="1879600"/>
            <a:ext cx="20828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242120"/>
                </a:solidFill>
                <a:latin typeface="Arial" panose="020B0604020202020204" pitchFamily="34" charset="0"/>
              </a:rPr>
              <a:t>ChromaDB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189AC2-0FE0-D710-429E-776CD08470D4}"/>
              </a:ext>
            </a:extLst>
          </p:cNvPr>
          <p:cNvSpPr/>
          <p:nvPr/>
        </p:nvSpPr>
        <p:spPr>
          <a:xfrm>
            <a:off x="7467600" y="1651000"/>
            <a:ext cx="2082800" cy="1016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4AD0D6-0327-10B8-D698-20C1A58053B2}"/>
              </a:ext>
            </a:extLst>
          </p:cNvPr>
          <p:cNvSpPr txBox="1"/>
          <p:nvPr/>
        </p:nvSpPr>
        <p:spPr>
          <a:xfrm>
            <a:off x="7467600" y="1879600"/>
            <a:ext cx="20828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RRF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DA1C4D-BF21-81DA-7F0C-2A050380B5DA}"/>
              </a:ext>
            </a:extLst>
          </p:cNvPr>
          <p:cNvSpPr/>
          <p:nvPr/>
        </p:nvSpPr>
        <p:spPr>
          <a:xfrm>
            <a:off x="9753600" y="1651000"/>
            <a:ext cx="2082800" cy="1016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20444-D8E6-C899-9DE0-524766E5798B}"/>
              </a:ext>
            </a:extLst>
          </p:cNvPr>
          <p:cNvSpPr txBox="1"/>
          <p:nvPr/>
        </p:nvSpPr>
        <p:spPr>
          <a:xfrm>
            <a:off x="9753600" y="1879600"/>
            <a:ext cx="20828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Чанки</a:t>
            </a:r>
            <a:endParaRPr 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42C122-9432-7C7A-3C6C-DC548D565DCC}"/>
              </a:ext>
            </a:extLst>
          </p:cNvPr>
          <p:cNvSpPr/>
          <p:nvPr/>
        </p:nvSpPr>
        <p:spPr>
          <a:xfrm>
            <a:off x="2895600" y="3048000"/>
            <a:ext cx="6350000" cy="1016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20B790-A4BA-85E4-6EE3-7947BF5B3B67}"/>
              </a:ext>
            </a:extLst>
          </p:cNvPr>
          <p:cNvSpPr txBox="1"/>
          <p:nvPr/>
        </p:nvSpPr>
        <p:spPr>
          <a:xfrm>
            <a:off x="3048000" y="3302000"/>
            <a:ext cx="60452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600">
                <a:solidFill>
                  <a:srgbClr val="242120"/>
                </a:solidFill>
                <a:latin typeface="Arial" panose="020B0604020202020204" pitchFamily="34" charset="0"/>
              </a:rPr>
              <a:t>тот же запрос → BM25 → RRF</a:t>
            </a:r>
            <a:endParaRPr lang="en-US" sz="16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09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C835A-F864-A1C7-3DEC-07778BCDBDC0}"/>
              </a:ext>
            </a:extLst>
          </p:cNvPr>
          <p:cNvSpPr txBox="1"/>
          <p:nvPr/>
        </p:nvSpPr>
        <p:spPr>
          <a:xfrm>
            <a:off x="609600" y="355600"/>
            <a:ext cx="109728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400" b="1">
                <a:solidFill>
                  <a:srgbClr val="242120"/>
                </a:solidFill>
                <a:latin typeface="Arial" panose="020B0604020202020204" pitchFamily="34" charset="0"/>
              </a:rPr>
              <a:t>Команды индексатора</a:t>
            </a:r>
            <a:endParaRPr lang="en-US" sz="24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88C91-54DD-2968-033C-33372B9F29E5}"/>
              </a:ext>
            </a:extLst>
          </p:cNvPr>
          <p:cNvSpPr txBox="1"/>
          <p:nvPr/>
        </p:nvSpPr>
        <p:spPr>
          <a:xfrm>
            <a:off x="609600" y="863600"/>
            <a:ext cx="109728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Консоль StarTrek.Indexer. Шаги 1 → 2 → 3 — порядок работы с файлами.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985847-F09A-60FC-3028-2E971C3BCFFC}"/>
              </a:ext>
            </a:extLst>
          </p:cNvPr>
          <p:cNvSpPr/>
          <p:nvPr/>
        </p:nvSpPr>
        <p:spPr>
          <a:xfrm>
            <a:off x="609600" y="1397000"/>
            <a:ext cx="3556000" cy="2540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62058-3DC1-C8B3-1F9C-386A07C12631}"/>
              </a:ext>
            </a:extLst>
          </p:cNvPr>
          <p:cNvSpPr txBox="1"/>
          <p:nvPr/>
        </p:nvSpPr>
        <p:spPr>
          <a:xfrm>
            <a:off x="762000" y="1600200"/>
            <a:ext cx="32512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DC3B6F-D01E-1B98-10EC-454613855617}"/>
              </a:ext>
            </a:extLst>
          </p:cNvPr>
          <p:cNvSpPr txBox="1"/>
          <p:nvPr/>
        </p:nvSpPr>
        <p:spPr>
          <a:xfrm>
            <a:off x="762000" y="2032000"/>
            <a:ext cx="325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analyze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4E0F9-5F56-3860-3DF1-041D9C11EEBD}"/>
              </a:ext>
            </a:extLst>
          </p:cNvPr>
          <p:cNvSpPr txBox="1"/>
          <p:nvPr/>
        </p:nvSpPr>
        <p:spPr>
          <a:xfrm>
            <a:off x="762000" y="2667000"/>
            <a:ext cx="32512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отчёт, ничего не пишет</a:t>
            </a:r>
            <a:endParaRPr lang="en-US" sz="13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D79258-2AC6-4A25-FA36-65BC5AE08917}"/>
              </a:ext>
            </a:extLst>
          </p:cNvPr>
          <p:cNvSpPr/>
          <p:nvPr/>
        </p:nvSpPr>
        <p:spPr>
          <a:xfrm>
            <a:off x="4318000" y="1397000"/>
            <a:ext cx="3556000" cy="254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8D1E2-0D9F-0BB2-6EA0-85C2ECEFA7B0}"/>
              </a:ext>
            </a:extLst>
          </p:cNvPr>
          <p:cNvSpPr txBox="1"/>
          <p:nvPr/>
        </p:nvSpPr>
        <p:spPr>
          <a:xfrm>
            <a:off x="4470400" y="1600200"/>
            <a:ext cx="32512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24212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DB538-6148-C2F4-12E8-A73A23F6CD2B}"/>
              </a:ext>
            </a:extLst>
          </p:cNvPr>
          <p:cNvSpPr txBox="1"/>
          <p:nvPr/>
        </p:nvSpPr>
        <p:spPr>
          <a:xfrm>
            <a:off x="4470400" y="2032000"/>
            <a:ext cx="325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b="1">
                <a:solidFill>
                  <a:srgbClr val="242120"/>
                </a:solidFill>
                <a:latin typeface="Arial" panose="020B0604020202020204" pitchFamily="34" charset="0"/>
              </a:rPr>
              <a:t>chunk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D0C08-9E65-6FD2-CA44-FA27ACB03B7B}"/>
              </a:ext>
            </a:extLst>
          </p:cNvPr>
          <p:cNvSpPr txBox="1"/>
          <p:nvPr/>
        </p:nvSpPr>
        <p:spPr>
          <a:xfrm>
            <a:off x="4470400" y="2667000"/>
            <a:ext cx="32512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>
                <a:solidFill>
                  <a:srgbClr val="242120"/>
                </a:solidFill>
                <a:latin typeface="Arial" panose="020B0604020202020204" pitchFamily="34" charset="0"/>
              </a:rPr>
              <a:t>JSON </a:t>
            </a:r>
            <a:r>
              <a:rPr lang="ru-RU" sz="1300">
                <a:solidFill>
                  <a:srgbClr val="242120"/>
                </a:solidFill>
                <a:latin typeface="Arial" panose="020B0604020202020204" pitchFamily="34" charset="0"/>
              </a:rPr>
              <a:t>в </a:t>
            </a:r>
            <a:r>
              <a:rPr lang="en-US" sz="1300">
                <a:solidFill>
                  <a:srgbClr val="242120"/>
                </a:solidFill>
                <a:latin typeface="Arial" panose="020B0604020202020204" pitchFamily="34" charset="0"/>
              </a:rPr>
              <a:t>Data/staging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689A20-7110-F9B0-70BF-FB2504773AE4}"/>
              </a:ext>
            </a:extLst>
          </p:cNvPr>
          <p:cNvSpPr/>
          <p:nvPr/>
        </p:nvSpPr>
        <p:spPr>
          <a:xfrm>
            <a:off x="8026400" y="1397000"/>
            <a:ext cx="3556000" cy="2540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3D419-C9C6-886D-6FB8-2DFFF63942AF}"/>
              </a:ext>
            </a:extLst>
          </p:cNvPr>
          <p:cNvSpPr txBox="1"/>
          <p:nvPr/>
        </p:nvSpPr>
        <p:spPr>
          <a:xfrm>
            <a:off x="8178800" y="1600200"/>
            <a:ext cx="32512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7B315-3197-6650-9437-EA79B01DC9A7}"/>
              </a:ext>
            </a:extLst>
          </p:cNvPr>
          <p:cNvSpPr txBox="1"/>
          <p:nvPr/>
        </p:nvSpPr>
        <p:spPr>
          <a:xfrm>
            <a:off x="8178800" y="2032000"/>
            <a:ext cx="325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 panose="020B0604020202020204" pitchFamily="34" charset="0"/>
              </a:rPr>
              <a:t>embed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46A8FB-6B52-7046-3777-623BB47CED7C}"/>
              </a:ext>
            </a:extLst>
          </p:cNvPr>
          <p:cNvSpPr txBox="1"/>
          <p:nvPr/>
        </p:nvSpPr>
        <p:spPr>
          <a:xfrm>
            <a:off x="8178800" y="2667000"/>
            <a:ext cx="32512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векторы → два индекса</a:t>
            </a:r>
            <a:endParaRPr lang="en-US" sz="13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913C2A-DD04-B303-E51E-92C19567601C}"/>
              </a:ext>
            </a:extLst>
          </p:cNvPr>
          <p:cNvSpPr/>
          <p:nvPr/>
        </p:nvSpPr>
        <p:spPr>
          <a:xfrm>
            <a:off x="609600" y="4318000"/>
            <a:ext cx="5334000" cy="2032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DC2D6-5F6E-E89F-E27F-FC0C06D42AC2}"/>
              </a:ext>
            </a:extLst>
          </p:cNvPr>
          <p:cNvSpPr txBox="1"/>
          <p:nvPr/>
        </p:nvSpPr>
        <p:spPr>
          <a:xfrm>
            <a:off x="812800" y="4521200"/>
            <a:ext cx="4927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без файлов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732115-AAA8-3D75-A844-3365882802A0}"/>
              </a:ext>
            </a:extLst>
          </p:cNvPr>
          <p:cNvSpPr txBox="1"/>
          <p:nvPr/>
        </p:nvSpPr>
        <p:spPr>
          <a:xfrm>
            <a:off x="812800" y="49530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242120"/>
                </a:solidFill>
                <a:latin typeface="Arial" panose="020B0604020202020204" pitchFamily="34" charset="0"/>
              </a:rPr>
              <a:t>health-check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0D6953-BA8E-AF12-3D04-66E3871C5210}"/>
              </a:ext>
            </a:extLst>
          </p:cNvPr>
          <p:cNvSpPr/>
          <p:nvPr/>
        </p:nvSpPr>
        <p:spPr>
          <a:xfrm>
            <a:off x="6248400" y="4318000"/>
            <a:ext cx="5334000" cy="2032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7EBC72-98FA-7187-4A50-57D170C37F47}"/>
              </a:ext>
            </a:extLst>
          </p:cNvPr>
          <p:cNvSpPr txBox="1"/>
          <p:nvPr/>
        </p:nvSpPr>
        <p:spPr>
          <a:xfrm>
            <a:off x="6451600" y="4521200"/>
            <a:ext cx="4927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справка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CD9CF5-0C29-6B8C-C12B-F2072528EEF7}"/>
              </a:ext>
            </a:extLst>
          </p:cNvPr>
          <p:cNvSpPr txBox="1"/>
          <p:nvPr/>
        </p:nvSpPr>
        <p:spPr>
          <a:xfrm>
            <a:off x="6451600" y="49530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242120"/>
                </a:solidFill>
                <a:latin typeface="Arial" panose="020B0604020202020204" pitchFamily="34" charset="0"/>
              </a:rPr>
              <a:t>help</a:t>
            </a:r>
          </a:p>
        </p:txBody>
      </p:sp>
    </p:spTree>
    <p:extLst>
      <p:ext uri="{BB962C8B-B14F-4D97-AF65-F5344CB8AC3E}">
        <p14:creationId xmlns:p14="http://schemas.microsoft.com/office/powerpoint/2010/main" val="351141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7FF951-3610-5920-9EFA-BDC906FF6D85}"/>
              </a:ext>
            </a:extLst>
          </p:cNvPr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400" b="1">
                <a:solidFill>
                  <a:srgbClr val="242120"/>
                </a:solidFill>
                <a:latin typeface="Arial" panose="020B0604020202020204" pitchFamily="34" charset="0"/>
              </a:rPr>
              <a:t>Требования из ТЗ</a:t>
            </a:r>
            <a:endParaRPr lang="en-US" sz="24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E19EF-2585-525F-D474-3EE3A551AA73}"/>
              </a:ext>
            </a:extLst>
          </p:cNvPr>
          <p:cNvSpPr txBox="1"/>
          <p:nvPr/>
        </p:nvSpPr>
        <p:spPr>
          <a:xfrm>
            <a:off x="508000" y="7112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Стек проекта: </a:t>
            </a:r>
            <a:r>
              <a:rPr lang="en-US" sz="1200">
                <a:solidFill>
                  <a:srgbClr val="464744"/>
                </a:solidFill>
                <a:latin typeface="Arial" panose="020B0604020202020204" pitchFamily="34" charset="0"/>
              </a:rPr>
              <a:t>C# / .NET 10. Semantic Kernel </a:t>
            </a:r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вместо </a:t>
            </a:r>
            <a:r>
              <a:rPr lang="en-US" sz="1200">
                <a:solidFill>
                  <a:srgbClr val="464744"/>
                </a:solidFill>
                <a:latin typeface="Arial" panose="020B0604020202020204" pitchFamily="34" charset="0"/>
              </a:rPr>
              <a:t>LangGraph.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05090D-897B-09FE-8607-59D0E6243823}"/>
              </a:ext>
            </a:extLst>
          </p:cNvPr>
          <p:cNvSpPr/>
          <p:nvPr/>
        </p:nvSpPr>
        <p:spPr>
          <a:xfrm>
            <a:off x="508000" y="1143000"/>
            <a:ext cx="5461000" cy="5334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BE8C1-3ED3-EB1C-9AAA-1ABC81074681}"/>
              </a:ext>
            </a:extLst>
          </p:cNvPr>
          <p:cNvSpPr txBox="1"/>
          <p:nvPr/>
        </p:nvSpPr>
        <p:spPr>
          <a:xfrm>
            <a:off x="711200" y="1320800"/>
            <a:ext cx="50546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Функциональные</a:t>
            </a:r>
            <a:endParaRPr lang="en-US" sz="13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A5E73-0A5C-2B51-29CC-A363B8E2210A}"/>
              </a:ext>
            </a:extLst>
          </p:cNvPr>
          <p:cNvSpPr txBox="1"/>
          <p:nvPr/>
        </p:nvSpPr>
        <p:spPr>
          <a:xfrm>
            <a:off x="711200" y="1727200"/>
            <a:ext cx="5054600" cy="14927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MCP-</a:t>
            </a:r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сервер в </a:t>
            </a:r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IDE</a:t>
            </a:r>
          </a:p>
          <a:p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Индексация файлов предметной области — сериал </a:t>
            </a:r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Star Trek</a:t>
            </a:r>
          </a:p>
          <a:p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Ответы из файлов, не из общих знаний модели</a:t>
            </a:r>
          </a:p>
          <a:p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4 инструмента: </a:t>
            </a:r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index_folder, ask_question, find_relevant_docs, index_status</a:t>
            </a:r>
          </a:p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Corrective RAG: rewrite → retrieve → grade → generate</a:t>
            </a:r>
          </a:p>
          <a:p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Гибридный поиск: </a:t>
            </a:r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BM25 + </a:t>
            </a:r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вектор → </a:t>
            </a:r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RRF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4086AF-963F-4FBC-C9BC-73B934BBE5B8}"/>
              </a:ext>
            </a:extLst>
          </p:cNvPr>
          <p:cNvSpPr/>
          <p:nvPr/>
        </p:nvSpPr>
        <p:spPr>
          <a:xfrm>
            <a:off x="6223000" y="1143000"/>
            <a:ext cx="5461000" cy="5334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75BA4-2479-6CF8-3264-2128E03A6373}"/>
              </a:ext>
            </a:extLst>
          </p:cNvPr>
          <p:cNvSpPr txBox="1"/>
          <p:nvPr/>
        </p:nvSpPr>
        <p:spPr>
          <a:xfrm>
            <a:off x="6426200" y="1320800"/>
            <a:ext cx="5054600" cy="29238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300">
                <a:solidFill>
                  <a:srgbClr val="464744"/>
                </a:solidFill>
                <a:latin typeface="Arial" panose="020B0604020202020204" pitchFamily="34" charset="0"/>
              </a:rPr>
              <a:t>Нефункциональные</a:t>
            </a:r>
            <a:endParaRPr lang="en-US" sz="13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8435A-BCC3-E118-3345-A13E71884900}"/>
              </a:ext>
            </a:extLst>
          </p:cNvPr>
          <p:cNvSpPr txBox="1"/>
          <p:nvPr/>
        </p:nvSpPr>
        <p:spPr>
          <a:xfrm>
            <a:off x="6426200" y="1727200"/>
            <a:ext cx="5054600" cy="14927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242120"/>
                </a:solidFill>
                <a:latin typeface="Arial" panose="020B0604020202020204" pitchFamily="34" charset="0"/>
              </a:rPr>
              <a:t>C# / .NET 10</a:t>
            </a:r>
          </a:p>
          <a:p>
            <a:r>
              <a:rPr lang="en-US" sz="1300">
                <a:solidFill>
                  <a:srgbClr val="242120"/>
                </a:solidFill>
                <a:latin typeface="Arial" panose="020B0604020202020204" pitchFamily="34" charset="0"/>
              </a:rPr>
              <a:t>Docker Compose, </a:t>
            </a:r>
            <a:r>
              <a:rPr lang="ru-RU" sz="1300">
                <a:solidFill>
                  <a:srgbClr val="242120"/>
                </a:solidFill>
                <a:latin typeface="Arial" panose="020B0604020202020204" pitchFamily="34" charset="0"/>
              </a:rPr>
              <a:t>локальный запуск</a:t>
            </a:r>
          </a:p>
          <a:p>
            <a:r>
              <a:rPr lang="ru-RU" sz="1300">
                <a:solidFill>
                  <a:srgbClr val="242120"/>
                </a:solidFill>
                <a:latin typeface="Arial" panose="020B0604020202020204" pitchFamily="34" charset="0"/>
              </a:rPr>
              <a:t>Локальная </a:t>
            </a:r>
            <a:r>
              <a:rPr lang="en-US" sz="1300">
                <a:solidFill>
                  <a:srgbClr val="242120"/>
                </a:solidFill>
                <a:latin typeface="Arial" panose="020B0604020202020204" pitchFamily="34" charset="0"/>
              </a:rPr>
              <a:t>LLM </a:t>
            </a:r>
            <a:r>
              <a:rPr lang="ru-RU" sz="1300">
                <a:solidFill>
                  <a:srgbClr val="242120"/>
                </a:solidFill>
                <a:latin typeface="Arial" panose="020B0604020202020204" pitchFamily="34" charset="0"/>
              </a:rPr>
              <a:t>через </a:t>
            </a:r>
            <a:r>
              <a:rPr lang="en-US" sz="1300">
                <a:solidFill>
                  <a:srgbClr val="242120"/>
                </a:solidFill>
                <a:latin typeface="Arial" panose="020B0604020202020204" pitchFamily="34" charset="0"/>
              </a:rPr>
              <a:t>Ollama</a:t>
            </a:r>
          </a:p>
          <a:p>
            <a:r>
              <a:rPr lang="en-US" sz="1300">
                <a:solidFill>
                  <a:srgbClr val="242120"/>
                </a:solidFill>
                <a:latin typeface="Arial" panose="020B0604020202020204" pitchFamily="34" charset="0"/>
              </a:rPr>
              <a:t>Embeddings: ONNX e5-small</a:t>
            </a:r>
          </a:p>
          <a:p>
            <a:r>
              <a:rPr lang="ru-RU" sz="1300">
                <a:solidFill>
                  <a:srgbClr val="242120"/>
                </a:solidFill>
                <a:latin typeface="Arial" panose="020B0604020202020204" pitchFamily="34" charset="0"/>
              </a:rPr>
              <a:t>Конфиг в </a:t>
            </a:r>
            <a:r>
              <a:rPr lang="en-US" sz="1300">
                <a:solidFill>
                  <a:srgbClr val="242120"/>
                </a:solidFill>
                <a:latin typeface="Arial" panose="020B0604020202020204" pitchFamily="34" charset="0"/>
              </a:rPr>
              <a:t>appsettings.json, </a:t>
            </a:r>
            <a:r>
              <a:rPr lang="ru-RU" sz="1300">
                <a:solidFill>
                  <a:srgbClr val="242120"/>
                </a:solidFill>
                <a:latin typeface="Arial" panose="020B0604020202020204" pitchFamily="34" charset="0"/>
              </a:rPr>
              <a:t>без секретов в коде</a:t>
            </a:r>
          </a:p>
          <a:p>
            <a:r>
              <a:rPr lang="ru-RU" sz="1300">
                <a:solidFill>
                  <a:srgbClr val="242120"/>
                </a:solidFill>
                <a:latin typeface="Arial" panose="020B0604020202020204" pitchFamily="34" charset="0"/>
              </a:rPr>
              <a:t>Оркестрация: </a:t>
            </a:r>
            <a:r>
              <a:rPr lang="en-US" sz="1300">
                <a:solidFill>
                  <a:srgbClr val="242120"/>
                </a:solidFill>
                <a:latin typeface="Arial" panose="020B0604020202020204" pitchFamily="34" charset="0"/>
              </a:rPr>
              <a:t>Semantic Kernel</a:t>
            </a:r>
          </a:p>
          <a:p>
            <a:r>
              <a:rPr lang="ru-RU" sz="1300">
                <a:solidFill>
                  <a:srgbClr val="242120"/>
                </a:solidFill>
                <a:latin typeface="Arial" panose="020B0604020202020204" pitchFamily="34" charset="0"/>
              </a:rPr>
              <a:t>Документы предметной области ≥ 500 КБ</a:t>
            </a:r>
            <a:endParaRPr lang="en-US" sz="13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981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F28A2-877C-2883-3415-6E9D33E417A5}"/>
              </a:ext>
            </a:extLst>
          </p:cNvPr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400" b="1">
                <a:solidFill>
                  <a:srgbClr val="242120"/>
                </a:solidFill>
                <a:latin typeface="Arial" panose="020B0604020202020204" pitchFamily="34" charset="0"/>
              </a:rPr>
              <a:t>Траты: токены и доллары</a:t>
            </a:r>
            <a:endParaRPr lang="en-US" sz="24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6F83CC-EFC2-6FB1-B622-A51A29E31718}"/>
              </a:ext>
            </a:extLst>
          </p:cNvPr>
          <p:cNvSpPr/>
          <p:nvPr/>
        </p:nvSpPr>
        <p:spPr>
          <a:xfrm>
            <a:off x="508000" y="889000"/>
            <a:ext cx="3556000" cy="1397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0127B-DE5B-2A59-48E8-4187B1177308}"/>
              </a:ext>
            </a:extLst>
          </p:cNvPr>
          <p:cNvSpPr txBox="1"/>
          <p:nvPr/>
        </p:nvSpPr>
        <p:spPr>
          <a:xfrm>
            <a:off x="660400" y="990600"/>
            <a:ext cx="32512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Период 1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2FC2D-5E50-091F-B6FE-C3BDA613B9A2}"/>
              </a:ext>
            </a:extLst>
          </p:cNvPr>
          <p:cNvSpPr txBox="1"/>
          <p:nvPr/>
        </p:nvSpPr>
        <p:spPr>
          <a:xfrm>
            <a:off x="660400" y="1320800"/>
            <a:ext cx="32512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200" b="1">
                <a:solidFill>
                  <a:srgbClr val="242120"/>
                </a:solidFill>
                <a:latin typeface="Arial" panose="020B0604020202020204" pitchFamily="34" charset="0"/>
              </a:rPr>
              <a:t>42 636 696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5AF157-AB67-2427-4D0D-6A4454AD2EC0}"/>
              </a:ext>
            </a:extLst>
          </p:cNvPr>
          <p:cNvSpPr/>
          <p:nvPr/>
        </p:nvSpPr>
        <p:spPr>
          <a:xfrm>
            <a:off x="4318000" y="889000"/>
            <a:ext cx="3556000" cy="1397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915E5-B43F-C1DA-6FF2-D4892E2BF5C2}"/>
              </a:ext>
            </a:extLst>
          </p:cNvPr>
          <p:cNvSpPr txBox="1"/>
          <p:nvPr/>
        </p:nvSpPr>
        <p:spPr>
          <a:xfrm>
            <a:off x="4470400" y="990600"/>
            <a:ext cx="32512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Период 2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D856B-E48A-CF10-3BDC-D67562BD3810}"/>
              </a:ext>
            </a:extLst>
          </p:cNvPr>
          <p:cNvSpPr txBox="1"/>
          <p:nvPr/>
        </p:nvSpPr>
        <p:spPr>
          <a:xfrm>
            <a:off x="4470400" y="1320800"/>
            <a:ext cx="32512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200" b="1">
                <a:solidFill>
                  <a:srgbClr val="242120"/>
                </a:solidFill>
                <a:latin typeface="Arial" panose="020B0604020202020204" pitchFamily="34" charset="0"/>
              </a:rPr>
              <a:t>33 182 048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E7CA3C-6D38-BB33-ACE6-4B0A516A926D}"/>
              </a:ext>
            </a:extLst>
          </p:cNvPr>
          <p:cNvSpPr/>
          <p:nvPr/>
        </p:nvSpPr>
        <p:spPr>
          <a:xfrm>
            <a:off x="8128000" y="889000"/>
            <a:ext cx="3556000" cy="1397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C1554-33E0-08EA-5B6A-969A0FEE1286}"/>
              </a:ext>
            </a:extLst>
          </p:cNvPr>
          <p:cNvSpPr txBox="1"/>
          <p:nvPr/>
        </p:nvSpPr>
        <p:spPr>
          <a:xfrm>
            <a:off x="8280400" y="990600"/>
            <a:ext cx="32512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200">
                <a:solidFill>
                  <a:srgbClr val="FFFFFF"/>
                </a:solidFill>
                <a:latin typeface="Arial" panose="020B0604020202020204" pitchFamily="34" charset="0"/>
              </a:rPr>
              <a:t>Токены этого проекта</a:t>
            </a:r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C58B8-4D3B-BDBE-FA9A-2E0884067FC0}"/>
              </a:ext>
            </a:extLst>
          </p:cNvPr>
          <p:cNvSpPr txBox="1"/>
          <p:nvPr/>
        </p:nvSpPr>
        <p:spPr>
          <a:xfrm>
            <a:off x="8280400" y="1320800"/>
            <a:ext cx="32512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75 818 744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74A9A3-8366-4416-E73C-ED97BC2C2D75}"/>
              </a:ext>
            </a:extLst>
          </p:cNvPr>
          <p:cNvSpPr/>
          <p:nvPr/>
        </p:nvSpPr>
        <p:spPr>
          <a:xfrm>
            <a:off x="508000" y="2540000"/>
            <a:ext cx="5588000" cy="3810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A57863-CEFC-0CA5-4097-C9FA1E75EED2}"/>
              </a:ext>
            </a:extLst>
          </p:cNvPr>
          <p:cNvSpPr txBox="1"/>
          <p:nvPr/>
        </p:nvSpPr>
        <p:spPr>
          <a:xfrm>
            <a:off x="711200" y="2921000"/>
            <a:ext cx="5181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200">
                <a:solidFill>
                  <a:srgbClr val="FFFFFF"/>
                </a:solidFill>
                <a:latin typeface="Arial" panose="020B0604020202020204" pitchFamily="34" charset="0"/>
              </a:rPr>
              <a:t>Деньги на ИИ за весь курс OTUS</a:t>
            </a:r>
            <a:endParaRPr lang="en-US" sz="1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704FA-29C0-5E51-DE0F-92D79866742A}"/>
              </a:ext>
            </a:extLst>
          </p:cNvPr>
          <p:cNvSpPr txBox="1"/>
          <p:nvPr/>
        </p:nvSpPr>
        <p:spPr>
          <a:xfrm>
            <a:off x="711200" y="3429000"/>
            <a:ext cx="5181600" cy="58477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Arial" panose="020B0604020202020204" pitchFamily="34" charset="0"/>
              </a:rPr>
              <a:t>$120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78EED9-7480-B987-52A9-F91C7A90B40E}"/>
              </a:ext>
            </a:extLst>
          </p:cNvPr>
          <p:cNvSpPr txBox="1"/>
          <p:nvPr/>
        </p:nvSpPr>
        <p:spPr>
          <a:xfrm>
            <a:off x="711200" y="4572000"/>
            <a:ext cx="51816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400">
                <a:solidFill>
                  <a:srgbClr val="FFFFFF"/>
                </a:solidFill>
                <a:latin typeface="Arial" panose="020B0604020202020204" pitchFamily="34" charset="0"/>
              </a:rPr>
              <a:t>по $60 каждый месяц, итого $120</a:t>
            </a:r>
            <a:endParaRPr 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F53366-A26E-8687-F9D7-14024F556F26}"/>
              </a:ext>
            </a:extLst>
          </p:cNvPr>
          <p:cNvSpPr/>
          <p:nvPr/>
        </p:nvSpPr>
        <p:spPr>
          <a:xfrm>
            <a:off x="6350000" y="2540000"/>
            <a:ext cx="5334000" cy="381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C4BF5F-D48D-BCFD-0037-5F773829FA28}"/>
              </a:ext>
            </a:extLst>
          </p:cNvPr>
          <p:cNvSpPr txBox="1"/>
          <p:nvPr/>
        </p:nvSpPr>
        <p:spPr>
          <a:xfrm>
            <a:off x="6553200" y="2794000"/>
            <a:ext cx="4927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Токены — только </a:t>
            </a:r>
            <a:r>
              <a:rPr lang="en-US" sz="1200">
                <a:solidFill>
                  <a:srgbClr val="464744"/>
                </a:solidFill>
                <a:latin typeface="Arial" panose="020B0604020202020204" pitchFamily="34" charset="0"/>
              </a:rPr>
              <a:t>MCP.RAG.StarTrek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5FC3A4-EA8C-A017-0F55-6BFF5D4BC2AD}"/>
              </a:ext>
            </a:extLst>
          </p:cNvPr>
          <p:cNvSpPr txBox="1"/>
          <p:nvPr/>
        </p:nvSpPr>
        <p:spPr>
          <a:xfrm>
            <a:off x="6553200" y="3302000"/>
            <a:ext cx="4927600" cy="107721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242120"/>
                </a:solidFill>
                <a:latin typeface="Arial" panose="020B0604020202020204" pitchFamily="34" charset="0"/>
              </a:rPr>
              <a:t>Cache Read    66 674 498</a:t>
            </a:r>
          </a:p>
          <a:p>
            <a:r>
              <a:rPr lang="en-US" sz="1600">
                <a:solidFill>
                  <a:srgbClr val="242120"/>
                </a:solidFill>
                <a:latin typeface="Arial" panose="020B0604020202020204" pitchFamily="34" charset="0"/>
              </a:rPr>
              <a:t>Cache Write    1 503 571</a:t>
            </a:r>
          </a:p>
          <a:p>
            <a:r>
              <a:rPr lang="en-US" sz="1600">
                <a:solidFill>
                  <a:srgbClr val="242120"/>
                </a:solidFill>
                <a:latin typeface="Arial" panose="020B0604020202020204" pitchFamily="34" charset="0"/>
              </a:rPr>
              <a:t>Input          6 687 727</a:t>
            </a:r>
          </a:p>
          <a:p>
            <a:r>
              <a:rPr lang="en-US" sz="1600">
                <a:solidFill>
                  <a:srgbClr val="242120"/>
                </a:solidFill>
                <a:latin typeface="Arial" panose="020B0604020202020204" pitchFamily="34" charset="0"/>
              </a:rPr>
              <a:t>Output           952 948</a:t>
            </a:r>
          </a:p>
        </p:txBody>
      </p:sp>
    </p:spTree>
    <p:extLst>
      <p:ext uri="{BB962C8B-B14F-4D97-AF65-F5344CB8AC3E}">
        <p14:creationId xmlns:p14="http://schemas.microsoft.com/office/powerpoint/2010/main" val="2659256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3B5BB9-DCC0-C541-4CBA-DBEFCE28BBFA}"/>
              </a:ext>
            </a:extLst>
          </p:cNvPr>
          <p:cNvSpPr txBox="1"/>
          <p:nvPr/>
        </p:nvSpPr>
        <p:spPr>
          <a:xfrm>
            <a:off x="508000" y="254000"/>
            <a:ext cx="11176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200" b="1">
                <a:solidFill>
                  <a:srgbClr val="242120"/>
                </a:solidFill>
                <a:latin typeface="Arial" panose="020B0604020202020204" pitchFamily="34" charset="0"/>
              </a:rPr>
              <a:t>Что такое чанк и как считаются векторы</a:t>
            </a:r>
            <a:endParaRPr lang="en-US" sz="22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4E26D2-E4C9-73D1-B44A-F30FEC61BCC8}"/>
              </a:ext>
            </a:extLst>
          </p:cNvPr>
          <p:cNvSpPr/>
          <p:nvPr/>
        </p:nvSpPr>
        <p:spPr>
          <a:xfrm>
            <a:off x="508000" y="889000"/>
            <a:ext cx="2667000" cy="889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ED961-005D-8213-0B08-58FDB637FE43}"/>
              </a:ext>
            </a:extLst>
          </p:cNvPr>
          <p:cNvSpPr txBox="1"/>
          <p:nvPr/>
        </p:nvSpPr>
        <p:spPr>
          <a:xfrm>
            <a:off x="508000" y="1092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SourceFiles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3E07FB-79F7-033F-F7EE-5F5AC68E38C8}"/>
              </a:ext>
            </a:extLst>
          </p:cNvPr>
          <p:cNvSpPr/>
          <p:nvPr/>
        </p:nvSpPr>
        <p:spPr>
          <a:xfrm>
            <a:off x="3429000" y="889000"/>
            <a:ext cx="2667000" cy="889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52D8D-8C9B-F53D-D3A2-251AB53727FF}"/>
              </a:ext>
            </a:extLst>
          </p:cNvPr>
          <p:cNvSpPr txBox="1"/>
          <p:nvPr/>
        </p:nvSpPr>
        <p:spPr>
          <a:xfrm>
            <a:off x="3429000" y="1092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242120"/>
                </a:solidFill>
                <a:latin typeface="Arial" panose="020B0604020202020204" pitchFamily="34" charset="0"/>
              </a:rPr>
              <a:t>chunk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D0D195-76AA-45C9-AF8A-F327B8B09B26}"/>
              </a:ext>
            </a:extLst>
          </p:cNvPr>
          <p:cNvSpPr/>
          <p:nvPr/>
        </p:nvSpPr>
        <p:spPr>
          <a:xfrm>
            <a:off x="6350000" y="889000"/>
            <a:ext cx="2667000" cy="889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2A7B9-0B9D-7FE7-2EA0-B3BBA42F1CB3}"/>
              </a:ext>
            </a:extLst>
          </p:cNvPr>
          <p:cNvSpPr txBox="1"/>
          <p:nvPr/>
        </p:nvSpPr>
        <p:spPr>
          <a:xfrm>
            <a:off x="6350000" y="1092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242120"/>
                </a:solidFill>
                <a:latin typeface="Arial" panose="020B0604020202020204" pitchFamily="34" charset="0"/>
              </a:rPr>
              <a:t>embed + ONNX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0C1010-FBE3-9257-C7FD-220DFF3F1D55}"/>
              </a:ext>
            </a:extLst>
          </p:cNvPr>
          <p:cNvSpPr/>
          <p:nvPr/>
        </p:nvSpPr>
        <p:spPr>
          <a:xfrm>
            <a:off x="9271000" y="889000"/>
            <a:ext cx="2667000" cy="889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83E67-59BA-710F-1A68-80FEE8C1783F}"/>
              </a:ext>
            </a:extLst>
          </p:cNvPr>
          <p:cNvSpPr txBox="1"/>
          <p:nvPr/>
        </p:nvSpPr>
        <p:spPr>
          <a:xfrm>
            <a:off x="9271000" y="1092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ChromaDB + BM25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E9A658-59FB-F76B-5A66-3E00675E966B}"/>
              </a:ext>
            </a:extLst>
          </p:cNvPr>
          <p:cNvSpPr/>
          <p:nvPr/>
        </p:nvSpPr>
        <p:spPr>
          <a:xfrm>
            <a:off x="508000" y="2032000"/>
            <a:ext cx="3683000" cy="4318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83472-DB41-4D83-D81F-73C469E46B55}"/>
              </a:ext>
            </a:extLst>
          </p:cNvPr>
          <p:cNvSpPr txBox="1"/>
          <p:nvPr/>
        </p:nvSpPr>
        <p:spPr>
          <a:xfrm>
            <a:off x="685800" y="2235200"/>
            <a:ext cx="33274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Чанк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B01F0-2821-2C6A-13BB-F8C5137770D4}"/>
              </a:ext>
            </a:extLst>
          </p:cNvPr>
          <p:cNvSpPr txBox="1"/>
          <p:nvPr/>
        </p:nvSpPr>
        <p:spPr>
          <a:xfrm>
            <a:off x="685800" y="2667000"/>
            <a:ext cx="33274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400">
                <a:solidFill>
                  <a:srgbClr val="242120"/>
                </a:solidFill>
                <a:latin typeface="Arial" panose="020B0604020202020204" pitchFamily="34" charset="0"/>
              </a:rPr>
              <a:t>Кусок текста по заголовку #. Длиннее 480 токенов — режем. Короче 80 — не склеиваем.</a:t>
            </a:r>
            <a:endParaRPr lang="en-US" sz="14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4FEDB92-7728-A1A3-6C66-1D00FCCCDE31}"/>
              </a:ext>
            </a:extLst>
          </p:cNvPr>
          <p:cNvSpPr/>
          <p:nvPr/>
        </p:nvSpPr>
        <p:spPr>
          <a:xfrm>
            <a:off x="4381500" y="2032000"/>
            <a:ext cx="3683000" cy="4318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BE36C8-6151-DAEC-02E1-57A2AFA2D75A}"/>
              </a:ext>
            </a:extLst>
          </p:cNvPr>
          <p:cNvSpPr txBox="1"/>
          <p:nvPr/>
        </p:nvSpPr>
        <p:spPr>
          <a:xfrm>
            <a:off x="4559300" y="2235200"/>
            <a:ext cx="33274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Разработка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DC5A42-E40D-F560-1BF9-4F890D8C65D0}"/>
              </a:ext>
            </a:extLst>
          </p:cNvPr>
          <p:cNvSpPr txBox="1"/>
          <p:nvPr/>
        </p:nvSpPr>
        <p:spPr>
          <a:xfrm>
            <a:off x="4559300" y="2667000"/>
            <a:ext cx="33274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400">
                <a:solidFill>
                  <a:srgbClr val="242120"/>
                </a:solidFill>
                <a:latin typeface="Arial" panose="020B0604020202020204" pitchFamily="34" charset="0"/>
              </a:rPr>
              <a:t>Нарезка и расчёт векторов писались в Cursor на платных моделях.</a:t>
            </a:r>
            <a:endParaRPr lang="en-US" sz="14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1D86076-EC65-EC28-BCE7-B035CB7CC6BA}"/>
              </a:ext>
            </a:extLst>
          </p:cNvPr>
          <p:cNvSpPr/>
          <p:nvPr/>
        </p:nvSpPr>
        <p:spPr>
          <a:xfrm>
            <a:off x="8255000" y="2032000"/>
            <a:ext cx="3429000" cy="4318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A8A136-F4BE-27A9-5972-45720A35930C}"/>
              </a:ext>
            </a:extLst>
          </p:cNvPr>
          <p:cNvSpPr txBox="1"/>
          <p:nvPr/>
        </p:nvSpPr>
        <p:spPr>
          <a:xfrm>
            <a:off x="8432800" y="2235200"/>
            <a:ext cx="30734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Запуск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C098BD-C25C-8E0A-1081-0CEE70DC7DE6}"/>
              </a:ext>
            </a:extLst>
          </p:cNvPr>
          <p:cNvSpPr txBox="1"/>
          <p:nvPr/>
        </p:nvSpPr>
        <p:spPr>
          <a:xfrm>
            <a:off x="8432800" y="2667000"/>
            <a:ext cx="30734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400">
                <a:solidFill>
                  <a:srgbClr val="242120"/>
                </a:solidFill>
                <a:latin typeface="Arial" panose="020B0604020202020204" pitchFamily="34" charset="0"/>
              </a:rPr>
              <a:t>Векторы считает локальный ONNX e5-small. Платный API эмбеддингов не вызывается.</a:t>
            </a:r>
            <a:endParaRPr lang="en-US" sz="14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389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386DCF-BB6E-3024-0204-67B7ECDA45C1}"/>
              </a:ext>
            </a:extLst>
          </p:cNvPr>
          <p:cNvSpPr txBox="1"/>
          <p:nvPr/>
        </p:nvSpPr>
        <p:spPr>
          <a:xfrm>
            <a:off x="508000" y="254000"/>
            <a:ext cx="11176000" cy="4616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400" b="1">
                <a:solidFill>
                  <a:srgbClr val="242120"/>
                </a:solidFill>
                <a:latin typeface="Arial" panose="020B0604020202020204" pitchFamily="34" charset="0"/>
              </a:rPr>
              <a:t>Как запустить</a:t>
            </a:r>
            <a:endParaRPr lang="en-US" sz="24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4736DC-2904-6B10-C60E-64D55B654543}"/>
              </a:ext>
            </a:extLst>
          </p:cNvPr>
          <p:cNvSpPr/>
          <p:nvPr/>
        </p:nvSpPr>
        <p:spPr>
          <a:xfrm>
            <a:off x="508000" y="889000"/>
            <a:ext cx="2667000" cy="889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06558-99AC-F24C-DC45-B5B57CC55266}"/>
              </a:ext>
            </a:extLst>
          </p:cNvPr>
          <p:cNvSpPr txBox="1"/>
          <p:nvPr/>
        </p:nvSpPr>
        <p:spPr>
          <a:xfrm>
            <a:off x="508000" y="1092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Docker Compose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C42D56-48AE-F9EE-FEF0-8B382C72AAD4}"/>
              </a:ext>
            </a:extLst>
          </p:cNvPr>
          <p:cNvSpPr/>
          <p:nvPr/>
        </p:nvSpPr>
        <p:spPr>
          <a:xfrm>
            <a:off x="3429000" y="889000"/>
            <a:ext cx="2667000" cy="889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BE8FF-4F92-9D6C-087D-B9A8F71B7217}"/>
              </a:ext>
            </a:extLst>
          </p:cNvPr>
          <p:cNvSpPr txBox="1"/>
          <p:nvPr/>
        </p:nvSpPr>
        <p:spPr>
          <a:xfrm>
            <a:off x="3429000" y="1092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242120"/>
                </a:solidFill>
                <a:latin typeface="Arial" panose="020B0604020202020204" pitchFamily="34" charset="0"/>
              </a:rPr>
              <a:t>chromadb :8000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884FB7-7855-FF0B-E1C8-E515D64A0DA5}"/>
              </a:ext>
            </a:extLst>
          </p:cNvPr>
          <p:cNvSpPr/>
          <p:nvPr/>
        </p:nvSpPr>
        <p:spPr>
          <a:xfrm>
            <a:off x="6350000" y="889000"/>
            <a:ext cx="2667000" cy="889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5E680-E57F-CFE6-C72A-0E9D8668735A}"/>
              </a:ext>
            </a:extLst>
          </p:cNvPr>
          <p:cNvSpPr txBox="1"/>
          <p:nvPr/>
        </p:nvSpPr>
        <p:spPr>
          <a:xfrm>
            <a:off x="6350000" y="1092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242120"/>
                </a:solidFill>
                <a:latin typeface="Arial" panose="020B0604020202020204" pitchFamily="34" charset="0"/>
              </a:rPr>
              <a:t>indexer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9DCC5B-9CB1-59B3-0771-29BD4D5BEFCB}"/>
              </a:ext>
            </a:extLst>
          </p:cNvPr>
          <p:cNvSpPr/>
          <p:nvPr/>
        </p:nvSpPr>
        <p:spPr>
          <a:xfrm>
            <a:off x="9271000" y="889000"/>
            <a:ext cx="2667000" cy="889000"/>
          </a:xfrm>
          <a:prstGeom prst="roundRect">
            <a:avLst/>
          </a:prstGeom>
          <a:solidFill>
            <a:srgbClr val="D057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51E4F-2C14-A0D8-ABE0-6207D9FCD43D}"/>
              </a:ext>
            </a:extLst>
          </p:cNvPr>
          <p:cNvSpPr txBox="1"/>
          <p:nvPr/>
        </p:nvSpPr>
        <p:spPr>
          <a:xfrm>
            <a:off x="9271000" y="1092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  <a:endParaRPr 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3FA1DC-F509-BCDE-12D8-50F8D8FC2A77}"/>
              </a:ext>
            </a:extLst>
          </p:cNvPr>
          <p:cNvSpPr/>
          <p:nvPr/>
        </p:nvSpPr>
        <p:spPr>
          <a:xfrm>
            <a:off x="508000" y="2032000"/>
            <a:ext cx="3683000" cy="4318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DB00A3-9627-8329-3090-1AA06B94DEFF}"/>
              </a:ext>
            </a:extLst>
          </p:cNvPr>
          <p:cNvSpPr txBox="1"/>
          <p:nvPr/>
        </p:nvSpPr>
        <p:spPr>
          <a:xfrm>
            <a:off x="685800" y="2235200"/>
            <a:ext cx="33274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Стек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DA684D-A57C-3445-4528-E08E73A2667D}"/>
              </a:ext>
            </a:extLst>
          </p:cNvPr>
          <p:cNvSpPr txBox="1"/>
          <p:nvPr/>
        </p:nvSpPr>
        <p:spPr>
          <a:xfrm>
            <a:off x="685800" y="2921000"/>
            <a:ext cx="33274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242120"/>
                </a:solidFill>
                <a:latin typeface="Arial" panose="020B0604020202020204" pitchFamily="34" charset="0"/>
              </a:rPr>
              <a:t>C# / .NET 10 · ONNX Runtime · ChromaDB 1.5.9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24E8DB-ED33-3259-DFEE-6A5806B4393E}"/>
              </a:ext>
            </a:extLst>
          </p:cNvPr>
          <p:cNvSpPr/>
          <p:nvPr/>
        </p:nvSpPr>
        <p:spPr>
          <a:xfrm>
            <a:off x="4381500" y="2032000"/>
            <a:ext cx="3683000" cy="4318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66EE95-8B38-56BD-FD54-4D9F7A4DB327}"/>
              </a:ext>
            </a:extLst>
          </p:cNvPr>
          <p:cNvSpPr txBox="1"/>
          <p:nvPr/>
        </p:nvSpPr>
        <p:spPr>
          <a:xfrm>
            <a:off x="4559300" y="2235200"/>
            <a:ext cx="33274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Без контейнера индексатора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272FDA-CE4C-5CD8-A71C-BDD3EDD001D1}"/>
              </a:ext>
            </a:extLst>
          </p:cNvPr>
          <p:cNvSpPr txBox="1"/>
          <p:nvPr/>
        </p:nvSpPr>
        <p:spPr>
          <a:xfrm>
            <a:off x="4559300" y="2921000"/>
            <a:ext cx="33274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242120"/>
                </a:solidFill>
                <a:latin typeface="Arial" panose="020B0604020202020204" pitchFamily="34" charset="0"/>
              </a:rPr>
              <a:t>dotnet run --project src/StarTrek.Indexer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37D9CC8-7D3E-AABF-7D3E-F24060DB32A6}"/>
              </a:ext>
            </a:extLst>
          </p:cNvPr>
          <p:cNvSpPr/>
          <p:nvPr/>
        </p:nvSpPr>
        <p:spPr>
          <a:xfrm>
            <a:off x="8255000" y="2032000"/>
            <a:ext cx="3429000" cy="4318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271BC1-48F9-3501-C941-B92AA3571196}"/>
              </a:ext>
            </a:extLst>
          </p:cNvPr>
          <p:cNvSpPr txBox="1"/>
          <p:nvPr/>
        </p:nvSpPr>
        <p:spPr>
          <a:xfrm>
            <a:off x="8432800" y="2235200"/>
            <a:ext cx="30734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Конфиг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A826D-649B-6809-5BFB-78FDBE331870}"/>
              </a:ext>
            </a:extLst>
          </p:cNvPr>
          <p:cNvSpPr txBox="1"/>
          <p:nvPr/>
        </p:nvSpPr>
        <p:spPr>
          <a:xfrm>
            <a:off x="8432800" y="2921000"/>
            <a:ext cx="30734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242120"/>
                </a:solidFill>
                <a:latin typeface="Arial" panose="020B0604020202020204" pitchFamily="34" charset="0"/>
              </a:rPr>
              <a:t>appsettings.json </a:t>
            </a:r>
            <a:r>
              <a:rPr lang="ru-RU" sz="1400">
                <a:solidFill>
                  <a:srgbClr val="242120"/>
                </a:solidFill>
                <a:latin typeface="Arial" panose="020B0604020202020204" pitchFamily="34" charset="0"/>
              </a:rPr>
              <a:t>и </a:t>
            </a:r>
            <a:r>
              <a:rPr lang="en-US" sz="1400">
                <a:solidFill>
                  <a:srgbClr val="242120"/>
                </a:solidFill>
                <a:latin typeface="Arial" panose="020B0604020202020204" pitchFamily="34" charset="0"/>
              </a:rPr>
              <a:t>STARTREK_* — </a:t>
            </a:r>
            <a:r>
              <a:rPr lang="ru-RU" sz="1400">
                <a:solidFill>
                  <a:srgbClr val="242120"/>
                </a:solidFill>
                <a:latin typeface="Arial" panose="020B0604020202020204" pitchFamily="34" charset="0"/>
              </a:rPr>
              <a:t>пути, </a:t>
            </a:r>
            <a:r>
              <a:rPr lang="en-US" sz="1400">
                <a:solidFill>
                  <a:srgbClr val="242120"/>
                </a:solidFill>
                <a:latin typeface="Arial" panose="020B0604020202020204" pitchFamily="34" charset="0"/>
              </a:rPr>
              <a:t>Chroma, </a:t>
            </a:r>
            <a:r>
              <a:rPr lang="ru-RU" sz="1400">
                <a:solidFill>
                  <a:srgbClr val="242120"/>
                </a:solidFill>
                <a:latin typeface="Arial" panose="020B0604020202020204" pitchFamily="34" charset="0"/>
              </a:rPr>
              <a:t>чанки, </a:t>
            </a:r>
            <a:r>
              <a:rPr lang="en-US" sz="1400">
                <a:solidFill>
                  <a:srgbClr val="242120"/>
                </a:solidFill>
                <a:latin typeface="Arial" panose="020B0604020202020204" pitchFamily="34" charset="0"/>
              </a:rPr>
              <a:t>BM25, RRF</a:t>
            </a:r>
          </a:p>
        </p:txBody>
      </p:sp>
    </p:spTree>
    <p:extLst>
      <p:ext uri="{BB962C8B-B14F-4D97-AF65-F5344CB8AC3E}">
        <p14:creationId xmlns:p14="http://schemas.microsoft.com/office/powerpoint/2010/main" val="1534541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48F593-4011-6432-11A0-309562E6AB0F}"/>
              </a:ext>
            </a:extLst>
          </p:cNvPr>
          <p:cNvSpPr txBox="1"/>
          <p:nvPr/>
        </p:nvSpPr>
        <p:spPr>
          <a:xfrm>
            <a:off x="762000" y="2286000"/>
            <a:ext cx="10668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2600" b="1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 в разработке</a:t>
            </a:r>
            <a:endParaRPr lang="en-US" sz="2600" b="1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E7BCF5-32B7-02DE-64F2-AE063AD113A3}"/>
              </a:ext>
            </a:extLst>
          </p:cNvPr>
          <p:cNvSpPr txBox="1"/>
          <p:nvPr/>
        </p:nvSpPr>
        <p:spPr>
          <a:xfrm>
            <a:off x="762000" y="3175000"/>
            <a:ext cx="106680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ru-RU" sz="1600">
                <a:solidFill>
                  <a:srgbClr val="464744"/>
                </a:solidFill>
                <a:latin typeface="Arial" panose="020B0604020202020204" pitchFamily="34" charset="0"/>
              </a:rPr>
              <a:t>Контуры работ из ТЗ. Ни один пункт ниже не сделан.</a:t>
            </a:r>
            <a:endParaRPr lang="en-US" sz="16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E549F-8CF7-C433-2310-5F22100BE37F}"/>
              </a:ext>
            </a:extLst>
          </p:cNvPr>
          <p:cNvSpPr txBox="1"/>
          <p:nvPr/>
        </p:nvSpPr>
        <p:spPr>
          <a:xfrm>
            <a:off x="762000" y="39370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>
                <a:solidFill>
                  <a:srgbClr val="242120"/>
                </a:solidFill>
                <a:latin typeface="Arial" panose="020B0604020202020204" pitchFamily="34" charset="0"/>
              </a:rPr>
              <a:t>MCP-</a:t>
            </a:r>
            <a:r>
              <a:rPr lang="ru-RU" sz="1400">
                <a:solidFill>
                  <a:srgbClr val="242120"/>
                </a:solidFill>
                <a:latin typeface="Arial" panose="020B0604020202020204" pitchFamily="34" charset="0"/>
              </a:rPr>
              <a:t>инструменты  ·  </a:t>
            </a:r>
            <a:r>
              <a:rPr lang="en-US" sz="1400">
                <a:solidFill>
                  <a:srgbClr val="242120"/>
                </a:solidFill>
                <a:latin typeface="Arial" panose="020B0604020202020204" pitchFamily="34" charset="0"/>
              </a:rPr>
              <a:t>Corrective RAG  ·  CI </a:t>
            </a:r>
            <a:r>
              <a:rPr lang="ru-RU" sz="1400">
                <a:solidFill>
                  <a:srgbClr val="242120"/>
                </a:solidFill>
                <a:latin typeface="Arial" panose="020B0604020202020204" pitchFamily="34" charset="0"/>
              </a:rPr>
              <a:t>и </a:t>
            </a:r>
            <a:r>
              <a:rPr lang="en-US" sz="1400">
                <a:solidFill>
                  <a:srgbClr val="242120"/>
                </a:solidFill>
                <a:latin typeface="Arial" panose="020B0604020202020204" pitchFamily="34" charset="0"/>
              </a:rPr>
              <a:t>Docker MCP  ·  </a:t>
            </a:r>
            <a:r>
              <a:rPr lang="ru-RU" sz="1400">
                <a:solidFill>
                  <a:srgbClr val="242120"/>
                </a:solidFill>
                <a:latin typeface="Arial" panose="020B0604020202020204" pitchFamily="34" charset="0"/>
              </a:rPr>
              <a:t>документы сдачи</a:t>
            </a:r>
            <a:endParaRPr lang="en-US" sz="14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189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8A7E3-AF9C-A471-FB17-0C1849F13215}"/>
              </a:ext>
            </a:extLst>
          </p:cNvPr>
          <p:cNvSpPr txBox="1"/>
          <p:nvPr/>
        </p:nvSpPr>
        <p:spPr>
          <a:xfrm>
            <a:off x="508000" y="254000"/>
            <a:ext cx="11176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200" b="1">
                <a:solidFill>
                  <a:srgbClr val="242120"/>
                </a:solidFill>
                <a:latin typeface="Arial" panose="020B0604020202020204" pitchFamily="34" charset="0"/>
              </a:rPr>
              <a:t>MCP-</a:t>
            </a:r>
            <a:r>
              <a:rPr lang="ru-RU" sz="2200" b="1">
                <a:solidFill>
                  <a:srgbClr val="242120"/>
                </a:solidFill>
                <a:latin typeface="Arial" panose="020B0604020202020204" pitchFamily="34" charset="0"/>
              </a:rPr>
              <a:t>сервер: 4 инструмента</a:t>
            </a:r>
            <a:endParaRPr lang="en-US" sz="22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2B894-7D34-A0D0-D762-EEEBB04B700F}"/>
              </a:ext>
            </a:extLst>
          </p:cNvPr>
          <p:cNvSpPr txBox="1"/>
          <p:nvPr/>
        </p:nvSpPr>
        <p:spPr>
          <a:xfrm>
            <a:off x="508000" y="7366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Форма из ТЗ. Каждый инструмент: ещё не реализовано.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8BC4B2-951D-DC1B-D4AF-4AEF6EF971DE}"/>
              </a:ext>
            </a:extLst>
          </p:cNvPr>
          <p:cNvSpPr/>
          <p:nvPr/>
        </p:nvSpPr>
        <p:spPr>
          <a:xfrm>
            <a:off x="508000" y="1219200"/>
            <a:ext cx="5461000" cy="254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FC538-81E0-4207-D932-381DB6C494BE}"/>
              </a:ext>
            </a:extLst>
          </p:cNvPr>
          <p:cNvSpPr txBox="1"/>
          <p:nvPr/>
        </p:nvSpPr>
        <p:spPr>
          <a:xfrm>
            <a:off x="711200" y="1397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5AFF3-AF96-EA9E-385F-3FBC855B314C}"/>
              </a:ext>
            </a:extLst>
          </p:cNvPr>
          <p:cNvSpPr txBox="1"/>
          <p:nvPr/>
        </p:nvSpPr>
        <p:spPr>
          <a:xfrm>
            <a:off x="711200" y="1778000"/>
            <a:ext cx="50546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index_folder(path, glob)</a:t>
            </a:r>
          </a:p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Скан, чанки,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embeddings, ChromaDB, BM25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9B87E7-F30E-6CBE-8AC0-6FDB4FCCF52B}"/>
              </a:ext>
            </a:extLst>
          </p:cNvPr>
          <p:cNvSpPr/>
          <p:nvPr/>
        </p:nvSpPr>
        <p:spPr>
          <a:xfrm>
            <a:off x="6223000" y="1219200"/>
            <a:ext cx="5461000" cy="254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C20D05-E6E4-9A1F-E733-3D1CABDA4F94}"/>
              </a:ext>
            </a:extLst>
          </p:cNvPr>
          <p:cNvSpPr txBox="1"/>
          <p:nvPr/>
        </p:nvSpPr>
        <p:spPr>
          <a:xfrm>
            <a:off x="6426200" y="1397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10368E-56E5-F452-4F6F-689744803879}"/>
              </a:ext>
            </a:extLst>
          </p:cNvPr>
          <p:cNvSpPr txBox="1"/>
          <p:nvPr/>
        </p:nvSpPr>
        <p:spPr>
          <a:xfrm>
            <a:off x="6426200" y="1778000"/>
            <a:ext cx="50546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ask_question(question)</a:t>
            </a:r>
          </a:p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Полный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RAG, </a:t>
            </a:r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ответ + источники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A95C53-E59D-9B7D-BA37-1A0D6D1A8846}"/>
              </a:ext>
            </a:extLst>
          </p:cNvPr>
          <p:cNvSpPr/>
          <p:nvPr/>
        </p:nvSpPr>
        <p:spPr>
          <a:xfrm>
            <a:off x="508000" y="4013200"/>
            <a:ext cx="5461000" cy="2413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F61CD-53DD-F1A6-51E6-7AB224745DF9}"/>
              </a:ext>
            </a:extLst>
          </p:cNvPr>
          <p:cNvSpPr txBox="1"/>
          <p:nvPr/>
        </p:nvSpPr>
        <p:spPr>
          <a:xfrm>
            <a:off x="711200" y="4191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041B6-C0CA-24DD-9044-FB152432B2B8}"/>
              </a:ext>
            </a:extLst>
          </p:cNvPr>
          <p:cNvSpPr txBox="1"/>
          <p:nvPr/>
        </p:nvSpPr>
        <p:spPr>
          <a:xfrm>
            <a:off x="711200" y="4572000"/>
            <a:ext cx="50546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find_relevant_docs(query, top_k)</a:t>
            </a:r>
          </a:p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Гибридный поиск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BM25 + </a:t>
            </a:r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вектор →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RRF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93B46F-401A-93AD-B88D-FD4024BA66BB}"/>
              </a:ext>
            </a:extLst>
          </p:cNvPr>
          <p:cNvSpPr/>
          <p:nvPr/>
        </p:nvSpPr>
        <p:spPr>
          <a:xfrm>
            <a:off x="6223000" y="4013200"/>
            <a:ext cx="5461000" cy="2413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DA7B98-804B-7B48-65AF-00EA402FAE4C}"/>
              </a:ext>
            </a:extLst>
          </p:cNvPr>
          <p:cNvSpPr txBox="1"/>
          <p:nvPr/>
        </p:nvSpPr>
        <p:spPr>
          <a:xfrm>
            <a:off x="6426200" y="4191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5820CF-D8F0-4AA3-3D68-595708BC6F90}"/>
              </a:ext>
            </a:extLst>
          </p:cNvPr>
          <p:cNvSpPr txBox="1"/>
          <p:nvPr/>
        </p:nvSpPr>
        <p:spPr>
          <a:xfrm>
            <a:off x="6426200" y="4572000"/>
            <a:ext cx="50546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index_status()</a:t>
            </a:r>
          </a:p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Файлы, чанки, время индексации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29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E13678-F9DE-FA0E-5A08-201383DED4B8}"/>
              </a:ext>
            </a:extLst>
          </p:cNvPr>
          <p:cNvSpPr txBox="1"/>
          <p:nvPr/>
        </p:nvSpPr>
        <p:spPr>
          <a:xfrm>
            <a:off x="508000" y="254000"/>
            <a:ext cx="11176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200" b="1">
                <a:solidFill>
                  <a:srgbClr val="242120"/>
                </a:solidFill>
                <a:latin typeface="Arial" panose="020B0604020202020204" pitchFamily="34" charset="0"/>
              </a:rPr>
              <a:t>Corrective RAG и локальная LLM</a:t>
            </a:r>
            <a:endParaRPr lang="en-US" sz="22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9F4E5-525C-01A0-90CA-F81341246D47}"/>
              </a:ext>
            </a:extLst>
          </p:cNvPr>
          <p:cNvSpPr txBox="1"/>
          <p:nvPr/>
        </p:nvSpPr>
        <p:spPr>
          <a:xfrm>
            <a:off x="508000" y="7366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Граф из ТЗ. Все шаги: ещё не реализовано.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F61B87-66FA-AD29-D54C-23A60F8B07AD}"/>
              </a:ext>
            </a:extLst>
          </p:cNvPr>
          <p:cNvSpPr/>
          <p:nvPr/>
        </p:nvSpPr>
        <p:spPr>
          <a:xfrm>
            <a:off x="508000" y="1219200"/>
            <a:ext cx="5461000" cy="254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A3942-BB38-83E5-8B91-16CBF2B8AFDE}"/>
              </a:ext>
            </a:extLst>
          </p:cNvPr>
          <p:cNvSpPr txBox="1"/>
          <p:nvPr/>
        </p:nvSpPr>
        <p:spPr>
          <a:xfrm>
            <a:off x="711200" y="1397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7E989-E4D0-256D-AFBC-A2A7246470AB}"/>
              </a:ext>
            </a:extLst>
          </p:cNvPr>
          <p:cNvSpPr txBox="1"/>
          <p:nvPr/>
        </p:nvSpPr>
        <p:spPr>
          <a:xfrm>
            <a:off x="711200" y="1778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Rewrite → Retrieve → Grade → Generate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5FD053-4674-397D-1D28-56B865A69DDC}"/>
              </a:ext>
            </a:extLst>
          </p:cNvPr>
          <p:cNvSpPr/>
          <p:nvPr/>
        </p:nvSpPr>
        <p:spPr>
          <a:xfrm>
            <a:off x="6223000" y="1219200"/>
            <a:ext cx="5461000" cy="254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E8D3-9F4B-B656-C2DE-651435B36A93}"/>
              </a:ext>
            </a:extLst>
          </p:cNvPr>
          <p:cNvSpPr txBox="1"/>
          <p:nvPr/>
        </p:nvSpPr>
        <p:spPr>
          <a:xfrm>
            <a:off x="6426200" y="1397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50FBF-5EB8-5C8E-4C57-88F602B1364C}"/>
              </a:ext>
            </a:extLst>
          </p:cNvPr>
          <p:cNvSpPr txBox="1"/>
          <p:nvPr/>
        </p:nvSpPr>
        <p:spPr>
          <a:xfrm>
            <a:off x="6426200" y="1778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Retrieve: BM25 + </a:t>
            </a:r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вектор, слияние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RRF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0BBFFD-0EE2-C8A5-358D-881F3076BF42}"/>
              </a:ext>
            </a:extLst>
          </p:cNvPr>
          <p:cNvSpPr/>
          <p:nvPr/>
        </p:nvSpPr>
        <p:spPr>
          <a:xfrm>
            <a:off x="508000" y="4013200"/>
            <a:ext cx="5461000" cy="2413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EE0CF-3BBE-5EA5-9681-636FEDDAD9EA}"/>
              </a:ext>
            </a:extLst>
          </p:cNvPr>
          <p:cNvSpPr txBox="1"/>
          <p:nvPr/>
        </p:nvSpPr>
        <p:spPr>
          <a:xfrm>
            <a:off x="711200" y="4191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F9187-2A7C-41D1-0E5F-F82D25B70456}"/>
              </a:ext>
            </a:extLst>
          </p:cNvPr>
          <p:cNvSpPr txBox="1"/>
          <p:nvPr/>
        </p:nvSpPr>
        <p:spPr>
          <a:xfrm>
            <a:off x="711200" y="4572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Retry: Broaden Query, не больше 2 циклов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44977D-9123-58D6-013C-CA4D9C7A6C6D}"/>
              </a:ext>
            </a:extLst>
          </p:cNvPr>
          <p:cNvSpPr/>
          <p:nvPr/>
        </p:nvSpPr>
        <p:spPr>
          <a:xfrm>
            <a:off x="6223000" y="4013200"/>
            <a:ext cx="5461000" cy="2413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F725D-DD49-1AD9-5E74-ED4CBC3E50FB}"/>
              </a:ext>
            </a:extLst>
          </p:cNvPr>
          <p:cNvSpPr txBox="1"/>
          <p:nvPr/>
        </p:nvSpPr>
        <p:spPr>
          <a:xfrm>
            <a:off x="6426200" y="4191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39E66-BDF4-65DC-9E8B-B8470F43E763}"/>
              </a:ext>
            </a:extLst>
          </p:cNvPr>
          <p:cNvSpPr txBox="1"/>
          <p:nvPr/>
        </p:nvSpPr>
        <p:spPr>
          <a:xfrm>
            <a:off x="6426200" y="4572000"/>
            <a:ext cx="50546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Ollama + </a:t>
            </a:r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локальная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LLM. </a:t>
            </a:r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Оркестрация —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Semantic Kernel</a:t>
            </a:r>
          </a:p>
        </p:txBody>
      </p:sp>
    </p:spTree>
    <p:extLst>
      <p:ext uri="{BB962C8B-B14F-4D97-AF65-F5344CB8AC3E}">
        <p14:creationId xmlns:p14="http://schemas.microsoft.com/office/powerpoint/2010/main" val="1860253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70E411-A6C9-22A5-D3DF-B49282252DFB}"/>
              </a:ext>
            </a:extLst>
          </p:cNvPr>
          <p:cNvSpPr txBox="1"/>
          <p:nvPr/>
        </p:nvSpPr>
        <p:spPr>
          <a:xfrm>
            <a:off x="508000" y="254000"/>
            <a:ext cx="11176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sv-SE" sz="2200" b="1">
                <a:solidFill>
                  <a:srgbClr val="242120"/>
                </a:solidFill>
                <a:latin typeface="Arial" panose="020B0604020202020204" pitchFamily="34" charset="0"/>
              </a:rPr>
              <a:t>Сдача: Docker, CI, конфиг IDE</a:t>
            </a:r>
            <a:endParaRPr lang="en-US" sz="22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F02DBF-0C52-FB94-1FC2-984BE2473AB2}"/>
              </a:ext>
            </a:extLst>
          </p:cNvPr>
          <p:cNvSpPr txBox="1"/>
          <p:nvPr/>
        </p:nvSpPr>
        <p:spPr>
          <a:xfrm>
            <a:off x="508000" y="7366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Инфраструктура из ТЗ. Каждый пункт: ещё не реализовано.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8F7F6C-D0ED-4E2C-49D3-EA8668B9559E}"/>
              </a:ext>
            </a:extLst>
          </p:cNvPr>
          <p:cNvSpPr/>
          <p:nvPr/>
        </p:nvSpPr>
        <p:spPr>
          <a:xfrm>
            <a:off x="508000" y="1219200"/>
            <a:ext cx="5461000" cy="254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19CBB-3950-98D6-0210-F73D83489BE0}"/>
              </a:ext>
            </a:extLst>
          </p:cNvPr>
          <p:cNvSpPr txBox="1"/>
          <p:nvPr/>
        </p:nvSpPr>
        <p:spPr>
          <a:xfrm>
            <a:off x="711200" y="1397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9BD8A-7C12-6A0B-C467-600D20D48A68}"/>
              </a:ext>
            </a:extLst>
          </p:cNvPr>
          <p:cNvSpPr txBox="1"/>
          <p:nvPr/>
        </p:nvSpPr>
        <p:spPr>
          <a:xfrm>
            <a:off x="711200" y="1778000"/>
            <a:ext cx="5054600" cy="553998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Docker Compose: MCP-сервер + Ollama + модель одной командой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B91AFA-F85B-EE35-A380-531B02F6EB88}"/>
              </a:ext>
            </a:extLst>
          </p:cNvPr>
          <p:cNvSpPr/>
          <p:nvPr/>
        </p:nvSpPr>
        <p:spPr>
          <a:xfrm>
            <a:off x="6223000" y="1219200"/>
            <a:ext cx="5461000" cy="254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CC92BE-C865-80BD-98C8-9F5D2B19CE8C}"/>
              </a:ext>
            </a:extLst>
          </p:cNvPr>
          <p:cNvSpPr txBox="1"/>
          <p:nvPr/>
        </p:nvSpPr>
        <p:spPr>
          <a:xfrm>
            <a:off x="6426200" y="1397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0C97C-15E3-D762-3645-702B7962C3E6}"/>
              </a:ext>
            </a:extLst>
          </p:cNvPr>
          <p:cNvSpPr txBox="1"/>
          <p:nvPr/>
        </p:nvSpPr>
        <p:spPr>
          <a:xfrm>
            <a:off x="6426200" y="1778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CI pipeline: lint; сборка образа — опционально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DFD766-A69E-C444-92EE-35DCEC5E7D75}"/>
              </a:ext>
            </a:extLst>
          </p:cNvPr>
          <p:cNvSpPr/>
          <p:nvPr/>
        </p:nvSpPr>
        <p:spPr>
          <a:xfrm>
            <a:off x="508000" y="4013200"/>
            <a:ext cx="5461000" cy="2413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84019-7DAC-B237-6000-A2743BEAD516}"/>
              </a:ext>
            </a:extLst>
          </p:cNvPr>
          <p:cNvSpPr txBox="1"/>
          <p:nvPr/>
        </p:nvSpPr>
        <p:spPr>
          <a:xfrm>
            <a:off x="711200" y="4191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87B071-9CBF-8575-72B1-4DB4A62A7FFA}"/>
              </a:ext>
            </a:extLst>
          </p:cNvPr>
          <p:cNvSpPr txBox="1"/>
          <p:nvPr/>
        </p:nvSpPr>
        <p:spPr>
          <a:xfrm>
            <a:off x="711200" y="4572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Конфиг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MCP </a:t>
            </a:r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для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VS Code Copilot / Cursor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0F7B55-AF8A-80F5-FE24-3D41E397BA7F}"/>
              </a:ext>
            </a:extLst>
          </p:cNvPr>
          <p:cNvSpPr/>
          <p:nvPr/>
        </p:nvSpPr>
        <p:spPr>
          <a:xfrm>
            <a:off x="6223000" y="4013200"/>
            <a:ext cx="5461000" cy="2413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91E776-491E-D687-5903-1F81A99E6AD7}"/>
              </a:ext>
            </a:extLst>
          </p:cNvPr>
          <p:cNvSpPr txBox="1"/>
          <p:nvPr/>
        </p:nvSpPr>
        <p:spPr>
          <a:xfrm>
            <a:off x="6426200" y="4191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304F6B-2199-673B-E2B3-D1DE8DFB1B1E}"/>
              </a:ext>
            </a:extLst>
          </p:cNvPr>
          <p:cNvSpPr txBox="1"/>
          <p:nvPr/>
        </p:nvSpPr>
        <p:spPr>
          <a:xfrm>
            <a:off x="6426200" y="4572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Проверка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Inspector: status → index → ask → find_docs</a:t>
            </a:r>
          </a:p>
        </p:txBody>
      </p:sp>
    </p:spTree>
    <p:extLst>
      <p:ext uri="{BB962C8B-B14F-4D97-AF65-F5344CB8AC3E}">
        <p14:creationId xmlns:p14="http://schemas.microsoft.com/office/powerpoint/2010/main" val="4047404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8C8ED-1FF8-BF3A-4FBC-F68A00119C48}"/>
              </a:ext>
            </a:extLst>
          </p:cNvPr>
          <p:cNvSpPr txBox="1"/>
          <p:nvPr/>
        </p:nvSpPr>
        <p:spPr>
          <a:xfrm>
            <a:off x="508000" y="254000"/>
            <a:ext cx="111760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2200" b="1">
                <a:solidFill>
                  <a:srgbClr val="242120"/>
                </a:solidFill>
                <a:latin typeface="Arial" panose="020B0604020202020204" pitchFamily="34" charset="0"/>
              </a:rPr>
              <a:t>Документы сдачи и критерии ТЗ</a:t>
            </a:r>
            <a:endParaRPr lang="en-US" sz="2200" b="1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0D689-65C0-A927-4669-70ECBB31401F}"/>
              </a:ext>
            </a:extLst>
          </p:cNvPr>
          <p:cNvSpPr txBox="1"/>
          <p:nvPr/>
        </p:nvSpPr>
        <p:spPr>
          <a:xfrm>
            <a:off x="508000" y="7366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464744"/>
                </a:solidFill>
                <a:latin typeface="Arial" panose="020B0604020202020204" pitchFamily="34" charset="0"/>
              </a:rPr>
              <a:t>Что должно появиться к сдаче. Каждый пункт: ещё не реализовано.</a:t>
            </a:r>
            <a:endParaRPr lang="en-US" sz="1200">
              <a:solidFill>
                <a:srgbClr val="464744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81E327-6ADA-4758-1A0B-78FE933389C5}"/>
              </a:ext>
            </a:extLst>
          </p:cNvPr>
          <p:cNvSpPr/>
          <p:nvPr/>
        </p:nvSpPr>
        <p:spPr>
          <a:xfrm>
            <a:off x="508000" y="1219200"/>
            <a:ext cx="5461000" cy="254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722FC-3C1B-41DF-417B-1E36731614C3}"/>
              </a:ext>
            </a:extLst>
          </p:cNvPr>
          <p:cNvSpPr txBox="1"/>
          <p:nvPr/>
        </p:nvSpPr>
        <p:spPr>
          <a:xfrm>
            <a:off x="711200" y="1397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E50023-11B0-AB81-7A1E-376AE55434FE}"/>
              </a:ext>
            </a:extLst>
          </p:cNvPr>
          <p:cNvSpPr txBox="1"/>
          <p:nvPr/>
        </p:nvSpPr>
        <p:spPr>
          <a:xfrm>
            <a:off x="711200" y="1778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ARCHITECTURE.md — </a:t>
            </a:r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схема </a:t>
            </a:r>
            <a:r>
              <a:rPr lang="en-US" sz="1500">
                <a:solidFill>
                  <a:srgbClr val="242120"/>
                </a:solidFill>
                <a:latin typeface="Arial" panose="020B0604020202020204" pitchFamily="34" charset="0"/>
              </a:rPr>
              <a:t>MCP, </a:t>
            </a:r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графа и индексов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56D776-CEA5-DACD-63F5-DAA664640217}"/>
              </a:ext>
            </a:extLst>
          </p:cNvPr>
          <p:cNvSpPr/>
          <p:nvPr/>
        </p:nvSpPr>
        <p:spPr>
          <a:xfrm>
            <a:off x="6223000" y="1219200"/>
            <a:ext cx="5461000" cy="2540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B6F22-6873-BA04-3905-C718ED9983F8}"/>
              </a:ext>
            </a:extLst>
          </p:cNvPr>
          <p:cNvSpPr txBox="1"/>
          <p:nvPr/>
        </p:nvSpPr>
        <p:spPr>
          <a:xfrm>
            <a:off x="6426200" y="1397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C9C7C-76DC-4C87-0E4F-110562122533}"/>
              </a:ext>
            </a:extLst>
          </p:cNvPr>
          <p:cNvSpPr txBox="1"/>
          <p:nvPr/>
        </p:nvSpPr>
        <p:spPr>
          <a:xfrm>
            <a:off x="6426200" y="1778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Проверочные факты в README.md (не из Wikipedia)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FBD2B6-3F40-FF4B-8444-B19654BDCB38}"/>
              </a:ext>
            </a:extLst>
          </p:cNvPr>
          <p:cNvSpPr/>
          <p:nvPr/>
        </p:nvSpPr>
        <p:spPr>
          <a:xfrm>
            <a:off x="508000" y="4013200"/>
            <a:ext cx="5461000" cy="2413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78D5F4-AE4A-1069-89EF-982E83098430}"/>
              </a:ext>
            </a:extLst>
          </p:cNvPr>
          <p:cNvSpPr txBox="1"/>
          <p:nvPr/>
        </p:nvSpPr>
        <p:spPr>
          <a:xfrm>
            <a:off x="711200" y="4191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E45861-C9F3-2B96-3413-8EE914F3F0FD}"/>
              </a:ext>
            </a:extLst>
          </p:cNvPr>
          <p:cNvSpPr txBox="1"/>
          <p:nvPr/>
        </p:nvSpPr>
        <p:spPr>
          <a:xfrm>
            <a:off x="711200" y="4572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e2e MCP и mock LLM для графа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C72882-8CB2-D8CF-9E62-D547B2C18623}"/>
              </a:ext>
            </a:extLst>
          </p:cNvPr>
          <p:cNvSpPr/>
          <p:nvPr/>
        </p:nvSpPr>
        <p:spPr>
          <a:xfrm>
            <a:off x="6223000" y="4013200"/>
            <a:ext cx="5461000" cy="2413000"/>
          </a:xfrm>
          <a:prstGeom prst="roundRect">
            <a:avLst/>
          </a:prstGeom>
          <a:solidFill>
            <a:srgbClr val="F4F3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D06D22-59AA-0231-384F-1CBB99490E8E}"/>
              </a:ext>
            </a:extLst>
          </p:cNvPr>
          <p:cNvSpPr txBox="1"/>
          <p:nvPr/>
        </p:nvSpPr>
        <p:spPr>
          <a:xfrm>
            <a:off x="6426200" y="4191000"/>
            <a:ext cx="5054600" cy="27699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200">
                <a:solidFill>
                  <a:srgbClr val="D0570B"/>
                </a:solidFill>
                <a:latin typeface="Arial" panose="020B0604020202020204" pitchFamily="34" charset="0"/>
              </a:rPr>
              <a:t>ещё не реализовано</a:t>
            </a:r>
            <a:endParaRPr lang="en-US" sz="1200">
              <a:solidFill>
                <a:srgbClr val="D0570B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69092-C391-A276-CE2E-C4033F0AD6F1}"/>
              </a:ext>
            </a:extLst>
          </p:cNvPr>
          <p:cNvSpPr txBox="1"/>
          <p:nvPr/>
        </p:nvSpPr>
        <p:spPr>
          <a:xfrm>
            <a:off x="6426200" y="4572000"/>
            <a:ext cx="5054600" cy="32316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ru-RU" sz="1500">
                <a:solidFill>
                  <a:srgbClr val="242120"/>
                </a:solidFill>
                <a:latin typeface="Arial" panose="020B0604020202020204" pitchFamily="34" charset="0"/>
              </a:rPr>
              <a:t>Демо 5 мин: сервер в IDE + объяснение графа</a:t>
            </a:r>
            <a:endParaRPr lang="en-US" sz="1500">
              <a:solidFill>
                <a:srgbClr val="24212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067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</Words>
  <Application>Microsoft Office PowerPoint</Application>
  <PresentationFormat>Custom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Ольга Васильева</dc:creator>
  <cp:lastModifiedBy>Ольга Васильева</cp:lastModifiedBy>
  <cp:revision>1</cp:revision>
  <dcterms:created xsi:type="dcterms:W3CDTF">2026-10-12T13:32:41Z</dcterms:created>
  <dcterms:modified xsi:type="dcterms:W3CDTF">2026-10-12T13:32:41Z</dcterms:modified>
</cp:coreProperties>
</file>